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Welcome to Creator Engine, built for CodeX 3.0 Problem Statement 3: Build a Creator Monetisation and Brand Opportunity Engine. Today, we are showcasing a fully functioning Next.js 16 application backed by Supabase and the Google Gemini API. Instead of another passive analytics dashboard, Creator Engine provides an ongoing execution system that tells creators what content to produce, how to monetize their specific audience, and which brand sponsorships they are genuinely qualified to win.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core problem. Today, creators don't fail because they lack passion—they fail because their workflow is totally fragmented. In our research and problem statement analysis, we identified four main bottlenecks: First, content paralysis: creators don't know why their hooks drop off after 3 seconds. Second, skill blindspots: they have no roadmap to level up. Third, monetization confusion: they have no idea what rate card to quote. And fourth, analytics tools tell them what happened last week, but never what exact action to take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solution. Creator Engine is built as a closed-loop execution system with 5 interconnected stages: Stage 1: The creator defines their profile, verified platforms, and income targets. Stage 2: Gemini AI analyzes this data to generate tailored 30, 60, and 90-day growth plans. Stage 3: We evaluate 5 revenue pathways to find the most viable monetisation stream. Stage 4: Our deterministic matchmaking engine compares creator metrics against vetted brand campaign criteria. And Stage 5: Everything funnels into the Action Centre—giving the creator a prioritized daily execution queue.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4, we maintain absolute technical honesty for the hackathon judges. On the left, you see the working features implemented in our Next.js 16 codebase today: the onboarding wizard, dynamic persona switcher, phased roadmaps, 5-pathway monetisation engine, opportunity marketplace, and the Action Centre. On the right is our live integration status: Supabase and the Gemini API are connected and verified. Our opportunity match scoring is kept strictly deterministic in application code to guarantee zero AI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shows the AI-Powered Growth Engine in detail. Notice that Gemini isn't generating generic text prompts—it generates a tightly structured JSON response containing: 1. A unique Creator Positioning Thesis. 2. Algorithmic Content Gaps with specific reasons, like 3-second hook drop-offs and missing save slides. 3. Clear Skill Priorities with tangible action steps. And 4. High-impact video topic angles with formats and target demographics. If external API keys are unavailable, our deterministic fallback engine produces matching high-fidelity recommendations instantly.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examine how monetization works. In Creator Engine, we don't assume brand sponsorships are the only way to earn. We evaluate 5 diversified pathways with quantitative suitability scores from 0 to 100. On the right is a live example of our brand opportunity card: MyProtein India. Look at the eligibility breakdown: Rahul is scored at 96% and verified eligible because he demonstrably passes all 5 criteria. If a creator does not meet a hard requirement, the engine explicitly marks them ineligible and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this slide represents the core requirement of Problem Statement 3: proving that two creators in different niches receive completely distinct recommendations. On the left, Rahul is a student fitness creator on Instagram with 15k followers. His top opportunities are MyProtein India and ₹299 digital workout guides. Wint Wealth is strictly disqualified because he's on Instagram in fitness. On the right, Priya is a LinkedIn finance educator with 8k connections. For Priya, recommendations completely invert: her top monetization is corporate wellness webinars and 1:1 strategy calls. Wint Wealth is a 97% match, while Cult.fit is disqualified. This proves our personalization is real, contextual, and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outlines our technical implementation. We built this with Next.js 16.4 using the Turbopack engine and React 19. Security was a priority: the Gemini API key is never exposed to the client. All AI generation goes through our server route `/api/recommendations` with strict output schema validation and a 20-second timeout. For database storage, we deployed a PostgreSQL relational schema on Supabase configured with Row-Level Security, allowing public read for demo profiles while ensuring user data is private and secure.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9, we highlight our market differentiation and ethical guardrails. Most creator tools fall into two extremes: either vanity analytics dashboards that don't tell you what to do, or AI caption generators that provide isolated text. Creator Engine bridges this by being an action-oriented execution system. Equally important are our responsible design guardrails: we make zero claims of guaranteed virality, we do not perform unauthorized scraping, and we never allow generative AI to hallucinate brand sponsorship criteria.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Creators don't need another passive analytics dashboard. They need a system that helps them decide what to do next and discover relevant monetisation opportunities. Creator Engine bridges the gap between creator identity and real revenue. We are ready for questions and would love to walk you through the live prototype.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640080"/>
            <a:ext cx="10728655" cy="5577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960120"/>
            <a:ext cx="4572000" cy="3200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defRPr>
            </a:pPr>
            <a:r>
              <a:t>CODEX 3.0 HACKATHON • PROBLEM STATEMENT 3 (PS3)</a:t>
            </a:r>
          </a:p>
        </p:txBody>
      </p:sp>
      <p:sp>
        <p:nvSpPr>
          <p:cNvPr id="6" name="TextBox 5"/>
          <p:cNvSpPr txBox="1"/>
          <p:nvPr/>
        </p:nvSpPr>
        <p:spPr>
          <a:xfrm>
            <a:off x="1097280" y="1371600"/>
            <a:ext cx="6217920" cy="1005840"/>
          </a:xfrm>
          <a:prstGeom prst="rect">
            <a:avLst/>
          </a:prstGeom>
          <a:noFill/>
        </p:spPr>
        <p:txBody>
          <a:bodyPr wrap="square">
            <a:spAutoFit/>
          </a:bodyPr>
          <a:lstStyle/>
          <a:p>
            <a:pPr>
              <a:defRPr sz="3600" b="1">
                <a:solidFill>
                  <a:srgbClr val="0F172A"/>
                </a:solidFill>
                <a:latin typeface="Arial"/>
              </a:defRPr>
            </a:pPr>
            <a:r>
              <a:t>Creator Engine</a:t>
            </a:r>
          </a:p>
        </p:txBody>
      </p:sp>
      <p:sp>
        <p:nvSpPr>
          <p:cNvPr id="7" name="TextBox 6"/>
          <p:cNvSpPr txBox="1"/>
          <p:nvPr/>
        </p:nvSpPr>
        <p:spPr>
          <a:xfrm>
            <a:off x="1097280" y="2377440"/>
            <a:ext cx="6217920" cy="777240"/>
          </a:xfrm>
          <a:prstGeom prst="rect">
            <a:avLst/>
          </a:prstGeom>
          <a:noFill/>
        </p:spPr>
        <p:txBody>
          <a:bodyPr wrap="square">
            <a:spAutoFit/>
          </a:bodyPr>
          <a:lstStyle/>
          <a:p>
            <a:pPr>
              <a:defRPr sz="1800" b="1">
                <a:solidFill>
                  <a:srgbClr val="2563EB"/>
                </a:solidFill>
                <a:latin typeface="Arial"/>
              </a:defRPr>
            </a:pPr>
            <a:r>
              <a:t>From Creator Profile to Growth, Monetisation &amp; Opportunity Execution</a:t>
            </a:r>
          </a:p>
        </p:txBody>
      </p:sp>
      <p:sp>
        <p:nvSpPr>
          <p:cNvPr id="8" name="TextBox 7"/>
          <p:cNvSpPr txBox="1"/>
          <p:nvPr/>
        </p:nvSpPr>
        <p:spPr>
          <a:xfrm>
            <a:off x="1097280" y="3246120"/>
            <a:ext cx="6217920" cy="1005840"/>
          </a:xfrm>
          <a:prstGeom prst="rect">
            <a:avLst/>
          </a:prstGeom>
          <a:noFill/>
        </p:spPr>
        <p:txBody>
          <a:bodyPr wrap="square">
            <a:spAutoFit/>
          </a:bodyPr>
          <a:lstStyle/>
          <a:p>
            <a:pPr>
              <a:defRPr sz="1200">
                <a:solidFill>
                  <a:srgbClr val="475569"/>
                </a:solidFill>
                <a:latin typeface="Arial"/>
              </a:defRPr>
            </a:pPr>
            <a:r>
              <a:t>An ongoing creator execution suite connecting niche audience calibration with AI-synthesized 30/60/90-day roadmaps, 5 diversified monetisation pathways, and a deterministic brand opportunity marketplace.</a:t>
            </a:r>
          </a:p>
        </p:txBody>
      </p:sp>
      <p:sp>
        <p:nvSpPr>
          <p:cNvPr id="9" name="Rounded Rectangle 8"/>
          <p:cNvSpPr/>
          <p:nvPr/>
        </p:nvSpPr>
        <p:spPr>
          <a:xfrm>
            <a:off x="1097280" y="4389120"/>
            <a:ext cx="621792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480560"/>
            <a:ext cx="5852160" cy="1280160"/>
          </a:xfrm>
          <a:prstGeom prst="rect">
            <a:avLst/>
          </a:prstGeom>
          <a:noFill/>
        </p:spPr>
        <p:txBody>
          <a:bodyPr wrap="square">
            <a:spAutoFit/>
          </a:bodyPr>
          <a:lstStyle/>
          <a:p>
            <a:pPr>
              <a:defRPr sz="1000" b="1">
                <a:solidFill>
                  <a:srgbClr val="2563EB"/>
                </a:solidFill>
              </a:defRPr>
            </a:pPr>
            <a:r>
              <a:t>PROJECT METADATA &amp; TEAM INFORMATION</a:t>
            </a:r>
          </a:p>
          <a:p>
            <a:pPr>
              <a:defRPr sz="1100" b="1">
                <a:solidFill>
                  <a:srgbClr val="0F172A"/>
                </a:solidFill>
              </a:defRPr>
            </a:pPr>
            <a:r>
              <a:t>Team Name: [CodeX 3.0 Finalist Team]    |    Track: Web3 &amp; Creator Economy (PS3)</a:t>
            </a:r>
          </a:p>
          <a:p>
            <a:pPr>
              <a:defRPr sz="1050">
                <a:solidFill>
                  <a:srgbClr val="475569"/>
                </a:solidFill>
              </a:defRPr>
            </a:pPr>
            <a:r>
              <a:t>Team Members: [Presenter 1, Presenter 2, Presenter 3]</a:t>
            </a:r>
          </a:p>
          <a:p>
            <a:pPr>
              <a:defRPr sz="950">
                <a:solidFill>
                  <a:srgbClr val="94A3B8"/>
                </a:solidFill>
              </a:defRPr>
            </a:pPr>
            <a:r>
              <a:t>Stack: Next.js 16 Turbopack • React 19 • Supabase RLS • Google Gemini API</a:t>
            </a:r>
          </a:p>
        </p:txBody>
      </p:sp>
      <p:sp>
        <p:nvSpPr>
          <p:cNvPr id="11" name="Rounded Rectangle 10"/>
          <p:cNvSpPr/>
          <p:nvPr/>
        </p:nvSpPr>
        <p:spPr>
          <a:xfrm>
            <a:off x="7589520" y="960120"/>
            <a:ext cx="3566160" cy="489204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_home.png"/>
          <p:cNvPicPr>
            <a:picLocks noChangeAspect="1"/>
          </p:cNvPicPr>
          <p:nvPr/>
        </p:nvPicPr>
        <p:blipFill>
          <a:blip r:embed="rId2"/>
          <a:stretch>
            <a:fillRect/>
          </a:stretch>
        </p:blipFill>
        <p:spPr>
          <a:xfrm>
            <a:off x="7726679" y="1097280"/>
            <a:ext cx="3291840" cy="4114800"/>
          </a:xfrm>
          <a:prstGeom prst="rect">
            <a:avLst/>
          </a:prstGeom>
        </p:spPr>
      </p:pic>
      <p:sp>
        <p:nvSpPr>
          <p:cNvPr id="13" name="TextBox 12"/>
          <p:cNvSpPr txBox="1"/>
          <p:nvPr/>
        </p:nvSpPr>
        <p:spPr>
          <a:xfrm>
            <a:off x="7726679" y="5303520"/>
            <a:ext cx="3291840" cy="411480"/>
          </a:xfrm>
          <a:prstGeom prst="rect">
            <a:avLst/>
          </a:prstGeom>
          <a:noFill/>
        </p:spPr>
        <p:txBody>
          <a:bodyPr wrap="none">
            <a:spAutoFit/>
          </a:bodyPr>
          <a:lstStyle/>
          <a:p>
            <a:pPr algn="ctr">
              <a:defRPr sz="1000" b="1">
                <a:solidFill>
                  <a:srgbClr val="059669"/>
                </a:solidFill>
              </a:defRPr>
            </a:pPr>
            <a:r>
              <a:t>Live Working Prototype — Next.js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THE REAL CREATOR DILEMMA</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Creators Are Drowning in Metrics But Starving for Direction</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The creator journey is currently broken into 4 disconnected silos, leading to burnout and monetization failure.</a:t>
            </a:r>
          </a:p>
        </p:txBody>
      </p:sp>
      <p:sp>
        <p:nvSpPr>
          <p:cNvPr id="6" name="Rounded Rectangle 5"/>
          <p:cNvSpPr/>
          <p:nvPr/>
        </p:nvSpPr>
        <p:spPr>
          <a:xfrm>
            <a:off x="731520" y="1691640"/>
            <a:ext cx="2468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2468880"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920240"/>
            <a:ext cx="594360" cy="274320"/>
          </a:xfrm>
          <a:prstGeom prst="roundRect">
            <a:avLst/>
          </a:prstGeom>
          <a:solidFill>
            <a:srgbClr val="FFF1F2"/>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11D48"/>
                </a:solidFill>
              </a:defRPr>
            </a:pPr>
            <a:r>
              <a:t>01</a:t>
            </a:r>
          </a:p>
        </p:txBody>
      </p:sp>
      <p:sp>
        <p:nvSpPr>
          <p:cNvPr id="9" name="TextBox 8"/>
          <p:cNvSpPr txBox="1"/>
          <p:nvPr/>
        </p:nvSpPr>
        <p:spPr>
          <a:xfrm>
            <a:off x="914400" y="2286000"/>
            <a:ext cx="2103120" cy="731520"/>
          </a:xfrm>
          <a:prstGeom prst="rect">
            <a:avLst/>
          </a:prstGeom>
          <a:noFill/>
        </p:spPr>
        <p:txBody>
          <a:bodyPr wrap="square">
            <a:spAutoFit/>
          </a:bodyPr>
          <a:lstStyle/>
          <a:p>
            <a:pPr>
              <a:defRPr sz="1400" b="1">
                <a:solidFill>
                  <a:srgbClr val="0F172A"/>
                </a:solidFill>
              </a:defRPr>
            </a:pPr>
            <a:r>
              <a:t>Content &amp; Format Paralysis</a:t>
            </a:r>
          </a:p>
        </p:txBody>
      </p:sp>
      <p:sp>
        <p:nvSpPr>
          <p:cNvPr id="10" name="TextBox 9"/>
          <p:cNvSpPr txBox="1"/>
          <p:nvPr/>
        </p:nvSpPr>
        <p:spPr>
          <a:xfrm>
            <a:off x="914400" y="3063240"/>
            <a:ext cx="2103120" cy="2926080"/>
          </a:xfrm>
          <a:prstGeom prst="rect">
            <a:avLst/>
          </a:prstGeom>
          <a:noFill/>
        </p:spPr>
        <p:txBody>
          <a:bodyPr wrap="square">
            <a:spAutoFit/>
          </a:bodyPr>
          <a:lstStyle/>
          <a:p/>
          <a:p>
            <a:pPr>
              <a:spcAft>
                <a:spcPts val="800"/>
              </a:spcAft>
              <a:defRPr sz="1050">
                <a:solidFill>
                  <a:srgbClr val="475569"/>
                </a:solidFill>
              </a:defRPr>
            </a:pPr>
            <a:r>
              <a:t>• Creators guess what to post daily without algorithmic retention context.</a:t>
            </a:r>
          </a:p>
          <a:p>
            <a:pPr>
              <a:spcAft>
                <a:spcPts val="800"/>
              </a:spcAft>
              <a:defRPr sz="1050">
                <a:solidFill>
                  <a:srgbClr val="475569"/>
                </a:solidFill>
              </a:defRPr>
            </a:pPr>
            <a:r>
              <a:t>• Lacks clear visibility into 3-second hook drop-offs or missing save-rate mechanisms.</a:t>
            </a:r>
          </a:p>
          <a:p>
            <a:pPr>
              <a:spcAft>
                <a:spcPts val="800"/>
              </a:spcAft>
              <a:defRPr sz="1050">
                <a:solidFill>
                  <a:srgbClr val="475569"/>
                </a:solidFill>
              </a:defRPr>
            </a:pPr>
            <a:r>
              <a:t>• Results in sporadic posting schedules and algorithm suppression.</a:t>
            </a:r>
          </a:p>
        </p:txBody>
      </p:sp>
      <p:sp>
        <p:nvSpPr>
          <p:cNvPr id="11" name="Rounded Rectangle 10"/>
          <p:cNvSpPr/>
          <p:nvPr/>
        </p:nvSpPr>
        <p:spPr>
          <a:xfrm>
            <a:off x="3456432" y="1691640"/>
            <a:ext cx="2468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6432" y="169164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39312" y="1920240"/>
            <a:ext cx="594360" cy="27432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02</a:t>
            </a:r>
          </a:p>
        </p:txBody>
      </p:sp>
      <p:sp>
        <p:nvSpPr>
          <p:cNvPr id="14" name="TextBox 13"/>
          <p:cNvSpPr txBox="1"/>
          <p:nvPr/>
        </p:nvSpPr>
        <p:spPr>
          <a:xfrm>
            <a:off x="3639312" y="2286000"/>
            <a:ext cx="2103120" cy="731520"/>
          </a:xfrm>
          <a:prstGeom prst="rect">
            <a:avLst/>
          </a:prstGeom>
          <a:noFill/>
        </p:spPr>
        <p:txBody>
          <a:bodyPr wrap="square">
            <a:spAutoFit/>
          </a:bodyPr>
          <a:lstStyle/>
          <a:p>
            <a:pPr>
              <a:defRPr sz="1400" b="1">
                <a:solidFill>
                  <a:srgbClr val="0F172A"/>
                </a:solidFill>
              </a:defRPr>
            </a:pPr>
            <a:r>
              <a:t>Skill &amp; Growth Blindspots</a:t>
            </a:r>
          </a:p>
        </p:txBody>
      </p:sp>
      <p:sp>
        <p:nvSpPr>
          <p:cNvPr id="15" name="TextBox 14"/>
          <p:cNvSpPr txBox="1"/>
          <p:nvPr/>
        </p:nvSpPr>
        <p:spPr>
          <a:xfrm>
            <a:off x="3639312" y="3063240"/>
            <a:ext cx="2103120" cy="2926080"/>
          </a:xfrm>
          <a:prstGeom prst="rect">
            <a:avLst/>
          </a:prstGeom>
          <a:noFill/>
        </p:spPr>
        <p:txBody>
          <a:bodyPr wrap="square">
            <a:spAutoFit/>
          </a:bodyPr>
          <a:lstStyle/>
          <a:p/>
          <a:p>
            <a:pPr>
              <a:spcAft>
                <a:spcPts val="800"/>
              </a:spcAft>
              <a:defRPr sz="1050">
                <a:solidFill>
                  <a:srgbClr val="475569"/>
                </a:solidFill>
              </a:defRPr>
            </a:pPr>
            <a:r>
              <a:t>• Creators know they must improve, but cannot prioritize specific operational skills.</a:t>
            </a:r>
          </a:p>
          <a:p>
            <a:pPr>
              <a:spcAft>
                <a:spcPts val="800"/>
              </a:spcAft>
              <a:defRPr sz="1050">
                <a:solidFill>
                  <a:srgbClr val="475569"/>
                </a:solidFill>
              </a:defRPr>
            </a:pPr>
            <a:r>
              <a:t>• Unclear whether to focus on video editing, rate negotiation, or slide hierarchy.</a:t>
            </a:r>
          </a:p>
          <a:p>
            <a:pPr>
              <a:spcAft>
                <a:spcPts val="800"/>
              </a:spcAft>
              <a:defRPr sz="1050">
                <a:solidFill>
                  <a:srgbClr val="475569"/>
                </a:solidFill>
              </a:defRPr>
            </a:pPr>
            <a:r>
              <a:t>• No structured 30/60/90-day trajectory aligned to audience stage.</a:t>
            </a:r>
          </a:p>
        </p:txBody>
      </p:sp>
      <p:sp>
        <p:nvSpPr>
          <p:cNvPr id="16" name="Rounded Rectangle 15"/>
          <p:cNvSpPr/>
          <p:nvPr/>
        </p:nvSpPr>
        <p:spPr>
          <a:xfrm>
            <a:off x="6181344" y="1691640"/>
            <a:ext cx="2468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691640"/>
            <a:ext cx="246888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64224" y="1920240"/>
            <a:ext cx="594360" cy="27432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F46E5"/>
                </a:solidFill>
              </a:defRPr>
            </a:pPr>
            <a:r>
              <a:t>03</a:t>
            </a:r>
          </a:p>
        </p:txBody>
      </p:sp>
      <p:sp>
        <p:nvSpPr>
          <p:cNvPr id="19" name="TextBox 18"/>
          <p:cNvSpPr txBox="1"/>
          <p:nvPr/>
        </p:nvSpPr>
        <p:spPr>
          <a:xfrm>
            <a:off x="6364224" y="2286000"/>
            <a:ext cx="2103120" cy="731520"/>
          </a:xfrm>
          <a:prstGeom prst="rect">
            <a:avLst/>
          </a:prstGeom>
          <a:noFill/>
        </p:spPr>
        <p:txBody>
          <a:bodyPr wrap="square">
            <a:spAutoFit/>
          </a:bodyPr>
          <a:lstStyle/>
          <a:p>
            <a:pPr>
              <a:defRPr sz="1400" b="1">
                <a:solidFill>
                  <a:srgbClr val="0F172A"/>
                </a:solidFill>
              </a:defRPr>
            </a:pPr>
            <a:r>
              <a:t>Commercial &amp; Pricing Confusion</a:t>
            </a:r>
          </a:p>
        </p:txBody>
      </p:sp>
      <p:sp>
        <p:nvSpPr>
          <p:cNvPr id="20" name="TextBox 19"/>
          <p:cNvSpPr txBox="1"/>
          <p:nvPr/>
        </p:nvSpPr>
        <p:spPr>
          <a:xfrm>
            <a:off x="6364224" y="3063240"/>
            <a:ext cx="2103120" cy="2926080"/>
          </a:xfrm>
          <a:prstGeom prst="rect">
            <a:avLst/>
          </a:prstGeom>
          <a:noFill/>
        </p:spPr>
        <p:txBody>
          <a:bodyPr wrap="square">
            <a:spAutoFit/>
          </a:bodyPr>
          <a:lstStyle/>
          <a:p/>
          <a:p>
            <a:pPr>
              <a:spcAft>
                <a:spcPts val="800"/>
              </a:spcAft>
              <a:defRPr sz="1050">
                <a:solidFill>
                  <a:srgbClr val="475569"/>
                </a:solidFill>
              </a:defRPr>
            </a:pPr>
            <a:r>
              <a:t>• 93% of nano/micro creators undervalue their audience or rely solely on low-yield links.</a:t>
            </a:r>
          </a:p>
          <a:p>
            <a:pPr>
              <a:spcAft>
                <a:spcPts val="800"/>
              </a:spcAft>
              <a:defRPr sz="1050">
                <a:solidFill>
                  <a:srgbClr val="475569"/>
                </a:solidFill>
              </a:defRPr>
            </a:pPr>
            <a:r>
              <a:t>• Missing pricing frameworks, media kits, or revision boundary standards.</a:t>
            </a:r>
          </a:p>
          <a:p>
            <a:pPr>
              <a:spcAft>
                <a:spcPts val="800"/>
              </a:spcAft>
              <a:defRPr sz="1050">
                <a:solidFill>
                  <a:srgbClr val="475569"/>
                </a:solidFill>
              </a:defRPr>
            </a:pPr>
            <a:r>
              <a:t>• Uncertain how to package 1 Reel + 3 Stories with commercial usage rights.</a:t>
            </a:r>
          </a:p>
        </p:txBody>
      </p:sp>
      <p:sp>
        <p:nvSpPr>
          <p:cNvPr id="21" name="Rounded Rectangle 20"/>
          <p:cNvSpPr/>
          <p:nvPr/>
        </p:nvSpPr>
        <p:spPr>
          <a:xfrm>
            <a:off x="8906256" y="1691640"/>
            <a:ext cx="2468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06256" y="1691640"/>
            <a:ext cx="24688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89136" y="1920240"/>
            <a:ext cx="594360" cy="274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563EB"/>
                </a:solidFill>
              </a:defRPr>
            </a:pPr>
            <a:r>
              <a:t>04</a:t>
            </a:r>
          </a:p>
        </p:txBody>
      </p:sp>
      <p:sp>
        <p:nvSpPr>
          <p:cNvPr id="24" name="TextBox 23"/>
          <p:cNvSpPr txBox="1"/>
          <p:nvPr/>
        </p:nvSpPr>
        <p:spPr>
          <a:xfrm>
            <a:off x="9089136" y="2286000"/>
            <a:ext cx="2103120" cy="731520"/>
          </a:xfrm>
          <a:prstGeom prst="rect">
            <a:avLst/>
          </a:prstGeom>
          <a:noFill/>
        </p:spPr>
        <p:txBody>
          <a:bodyPr wrap="square">
            <a:spAutoFit/>
          </a:bodyPr>
          <a:lstStyle/>
          <a:p>
            <a:pPr>
              <a:defRPr sz="1400" b="1">
                <a:solidFill>
                  <a:srgbClr val="0F172A"/>
                </a:solidFill>
              </a:defRPr>
            </a:pPr>
            <a:r>
              <a:t>Scattered Deals &amp; Vanity Metrics</a:t>
            </a:r>
          </a:p>
        </p:txBody>
      </p:sp>
      <p:sp>
        <p:nvSpPr>
          <p:cNvPr id="25" name="TextBox 24"/>
          <p:cNvSpPr txBox="1"/>
          <p:nvPr/>
        </p:nvSpPr>
        <p:spPr>
          <a:xfrm>
            <a:off x="9089136" y="3063240"/>
            <a:ext cx="2103120" cy="2926080"/>
          </a:xfrm>
          <a:prstGeom prst="rect">
            <a:avLst/>
          </a:prstGeom>
          <a:noFill/>
        </p:spPr>
        <p:txBody>
          <a:bodyPr wrap="square">
            <a:spAutoFit/>
          </a:bodyPr>
          <a:lstStyle/>
          <a:p/>
          <a:p>
            <a:pPr>
              <a:spcAft>
                <a:spcPts val="800"/>
              </a:spcAft>
              <a:defRPr sz="1050">
                <a:solidFill>
                  <a:srgbClr val="475569"/>
                </a:solidFill>
              </a:defRPr>
            </a:pPr>
            <a:r>
              <a:t>• Traditional dashboards (SocialBlade, HypeAuditor) show past graphs, not next steps.</a:t>
            </a:r>
          </a:p>
          <a:p>
            <a:pPr>
              <a:spcAft>
                <a:spcPts val="800"/>
              </a:spcAft>
              <a:defRPr sz="1050">
                <a:solidFill>
                  <a:srgbClr val="475569"/>
                </a:solidFill>
              </a:defRPr>
            </a:pPr>
            <a:r>
              <a:t>• Brand deals are buried in spam DMs with hidden follower and engagement barriers.</a:t>
            </a:r>
          </a:p>
          <a:p>
            <a:pPr>
              <a:spcAft>
                <a:spcPts val="800"/>
              </a:spcAft>
              <a:defRPr sz="1050">
                <a:solidFill>
                  <a:srgbClr val="475569"/>
                </a:solidFill>
              </a:defRPr>
            </a:pPr>
            <a:r>
              <a:t>• Creators waste hours pitching brands where they are fundamentally ineligible.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THE SOLUTION ARCHITECTURE</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Creator Engine: The Ongoing Creator Execution Loop</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A continuous 5-stage feedback system that transforms self-reported creator profile parameters into closed deals and daily execution.</a:t>
            </a:r>
          </a:p>
        </p:txBody>
      </p:sp>
      <p:sp>
        <p:nvSpPr>
          <p:cNvPr id="6" name="Rounded Rectangle 5"/>
          <p:cNvSpPr/>
          <p:nvPr/>
        </p:nvSpPr>
        <p:spPr>
          <a:xfrm>
            <a:off x="731520" y="1691640"/>
            <a:ext cx="107286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20240"/>
            <a:ext cx="1965960" cy="40233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03120"/>
            <a:ext cx="1691640" cy="274320"/>
          </a:xfrm>
          <a:prstGeom prst="rect">
            <a:avLst/>
          </a:prstGeom>
          <a:noFill/>
        </p:spPr>
        <p:txBody>
          <a:bodyPr wrap="none">
            <a:spAutoFit/>
          </a:bodyPr>
          <a:lstStyle/>
          <a:p>
            <a:pPr algn="ctr">
              <a:defRPr sz="1000" b="1">
                <a:solidFill>
                  <a:srgbClr val="2563EB"/>
                </a:solidFill>
              </a:defRPr>
            </a:pPr>
            <a:r>
              <a:t>STAGE 1</a:t>
            </a:r>
          </a:p>
        </p:txBody>
      </p:sp>
      <p:sp>
        <p:nvSpPr>
          <p:cNvPr id="9" name="TextBox 8"/>
          <p:cNvSpPr txBox="1"/>
          <p:nvPr/>
        </p:nvSpPr>
        <p:spPr>
          <a:xfrm>
            <a:off x="1097280" y="2468880"/>
            <a:ext cx="1691640" cy="640080"/>
          </a:xfrm>
          <a:prstGeom prst="rect">
            <a:avLst/>
          </a:prstGeom>
          <a:noFill/>
        </p:spPr>
        <p:txBody>
          <a:bodyPr wrap="square">
            <a:spAutoFit/>
          </a:bodyPr>
          <a:lstStyle/>
          <a:p>
            <a:pPr algn="ctr">
              <a:defRPr sz="1400" b="1">
                <a:solidFill>
                  <a:srgbClr val="0F172A"/>
                </a:solidFill>
              </a:defRPr>
            </a:pPr>
            <a:r>
              <a:t>Creator Profile</a:t>
            </a:r>
          </a:p>
        </p:txBody>
      </p:sp>
      <p:sp>
        <p:nvSpPr>
          <p:cNvPr id="10" name="Rectangle 9"/>
          <p:cNvSpPr/>
          <p:nvPr/>
        </p:nvSpPr>
        <p:spPr>
          <a:xfrm>
            <a:off x="1234440" y="3154680"/>
            <a:ext cx="1417320"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337560"/>
            <a:ext cx="1691640" cy="2286000"/>
          </a:xfrm>
          <a:prstGeom prst="rect">
            <a:avLst/>
          </a:prstGeom>
          <a:noFill/>
        </p:spPr>
        <p:txBody>
          <a:bodyPr wrap="square">
            <a:spAutoFit/>
          </a:bodyPr>
          <a:lstStyle/>
          <a:p>
            <a:pPr algn="ctr">
              <a:defRPr sz="1100">
                <a:solidFill>
                  <a:srgbClr val="475569"/>
                </a:solidFill>
              </a:defRPr>
            </a:pPr>
            <a:r>
              <a:t>Calibrates stage, niche, audience demographics, primary platform, and monthly income targets.</a:t>
            </a:r>
          </a:p>
        </p:txBody>
      </p:sp>
      <p:sp>
        <p:nvSpPr>
          <p:cNvPr id="12" name="Right Arrow 11"/>
          <p:cNvSpPr/>
          <p:nvPr/>
        </p:nvSpPr>
        <p:spPr>
          <a:xfrm>
            <a:off x="2953512" y="3749040"/>
            <a:ext cx="128016"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08960" y="1920240"/>
            <a:ext cx="1965960" cy="402336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103120"/>
            <a:ext cx="1691640" cy="274320"/>
          </a:xfrm>
          <a:prstGeom prst="rect">
            <a:avLst/>
          </a:prstGeom>
          <a:noFill/>
        </p:spPr>
        <p:txBody>
          <a:bodyPr wrap="none">
            <a:spAutoFit/>
          </a:bodyPr>
          <a:lstStyle/>
          <a:p>
            <a:pPr algn="ctr">
              <a:defRPr sz="1000" b="1">
                <a:solidFill>
                  <a:srgbClr val="4F46E5"/>
                </a:solidFill>
              </a:defRPr>
            </a:pPr>
            <a:r>
              <a:t>STAGE 2</a:t>
            </a:r>
          </a:p>
        </p:txBody>
      </p:sp>
      <p:sp>
        <p:nvSpPr>
          <p:cNvPr id="15" name="TextBox 14"/>
          <p:cNvSpPr txBox="1"/>
          <p:nvPr/>
        </p:nvSpPr>
        <p:spPr>
          <a:xfrm>
            <a:off x="3246120" y="2468880"/>
            <a:ext cx="1691640" cy="640080"/>
          </a:xfrm>
          <a:prstGeom prst="rect">
            <a:avLst/>
          </a:prstGeom>
          <a:noFill/>
        </p:spPr>
        <p:txBody>
          <a:bodyPr wrap="square">
            <a:spAutoFit/>
          </a:bodyPr>
          <a:lstStyle/>
          <a:p>
            <a:pPr algn="ctr">
              <a:defRPr sz="1400" b="1">
                <a:solidFill>
                  <a:srgbClr val="0F172A"/>
                </a:solidFill>
              </a:defRPr>
            </a:pPr>
            <a:r>
              <a:t>AI Growth Strategy</a:t>
            </a:r>
          </a:p>
        </p:txBody>
      </p:sp>
      <p:sp>
        <p:nvSpPr>
          <p:cNvPr id="16" name="Rectangle 15"/>
          <p:cNvSpPr/>
          <p:nvPr/>
        </p:nvSpPr>
        <p:spPr>
          <a:xfrm>
            <a:off x="3383280" y="3154680"/>
            <a:ext cx="1417320" cy="182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6120" y="3337560"/>
            <a:ext cx="1691640" cy="2286000"/>
          </a:xfrm>
          <a:prstGeom prst="rect">
            <a:avLst/>
          </a:prstGeom>
          <a:noFill/>
        </p:spPr>
        <p:txBody>
          <a:bodyPr wrap="square">
            <a:spAutoFit/>
          </a:bodyPr>
          <a:lstStyle/>
          <a:p>
            <a:pPr algn="ctr">
              <a:defRPr sz="1100">
                <a:solidFill>
                  <a:srgbClr val="475569"/>
                </a:solidFill>
              </a:defRPr>
            </a:pPr>
            <a:r>
              <a:t>Google Gemini synthesizes 30/60/90-day roadmaps, algorithmic content gaps, and skill acceleration priorities.</a:t>
            </a:r>
          </a:p>
        </p:txBody>
      </p:sp>
      <p:sp>
        <p:nvSpPr>
          <p:cNvPr id="18" name="Right Arrow 17"/>
          <p:cNvSpPr/>
          <p:nvPr/>
        </p:nvSpPr>
        <p:spPr>
          <a:xfrm>
            <a:off x="5102352" y="3749040"/>
            <a:ext cx="128016"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1920240"/>
            <a:ext cx="1965960" cy="40233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2103120"/>
            <a:ext cx="1691640" cy="274320"/>
          </a:xfrm>
          <a:prstGeom prst="rect">
            <a:avLst/>
          </a:prstGeom>
          <a:noFill/>
        </p:spPr>
        <p:txBody>
          <a:bodyPr wrap="none">
            <a:spAutoFit/>
          </a:bodyPr>
          <a:lstStyle/>
          <a:p>
            <a:pPr algn="ctr">
              <a:defRPr sz="1000" b="1">
                <a:solidFill>
                  <a:srgbClr val="059669"/>
                </a:solidFill>
              </a:defRPr>
            </a:pPr>
            <a:r>
              <a:t>STAGE 3</a:t>
            </a:r>
          </a:p>
        </p:txBody>
      </p:sp>
      <p:sp>
        <p:nvSpPr>
          <p:cNvPr id="21" name="TextBox 20"/>
          <p:cNvSpPr txBox="1"/>
          <p:nvPr/>
        </p:nvSpPr>
        <p:spPr>
          <a:xfrm>
            <a:off x="5394960" y="2468880"/>
            <a:ext cx="1691640" cy="640080"/>
          </a:xfrm>
          <a:prstGeom prst="rect">
            <a:avLst/>
          </a:prstGeom>
          <a:noFill/>
        </p:spPr>
        <p:txBody>
          <a:bodyPr wrap="square">
            <a:spAutoFit/>
          </a:bodyPr>
          <a:lstStyle/>
          <a:p>
            <a:pPr algn="ctr">
              <a:defRPr sz="1400" b="1">
                <a:solidFill>
                  <a:srgbClr val="0F172A"/>
                </a:solidFill>
              </a:defRPr>
            </a:pPr>
            <a:r>
              <a:t>Monetisation Pathway</a:t>
            </a:r>
          </a:p>
        </p:txBody>
      </p:sp>
      <p:sp>
        <p:nvSpPr>
          <p:cNvPr id="22" name="Rectangle 21"/>
          <p:cNvSpPr/>
          <p:nvPr/>
        </p:nvSpPr>
        <p:spPr>
          <a:xfrm>
            <a:off x="5532120" y="3154680"/>
            <a:ext cx="1417320" cy="182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3337560"/>
            <a:ext cx="1691640" cy="2286000"/>
          </a:xfrm>
          <a:prstGeom prst="rect">
            <a:avLst/>
          </a:prstGeom>
          <a:noFill/>
        </p:spPr>
        <p:txBody>
          <a:bodyPr wrap="square">
            <a:spAutoFit/>
          </a:bodyPr>
          <a:lstStyle/>
          <a:p>
            <a:pPr algn="ctr">
              <a:defRPr sz="1100">
                <a:solidFill>
                  <a:srgbClr val="475569"/>
                </a:solidFill>
              </a:defRPr>
            </a:pPr>
            <a:r>
              <a:t>Evaluates viability across 5 diversified revenue channels with realistic readiness scores and first steps.</a:t>
            </a:r>
          </a:p>
        </p:txBody>
      </p:sp>
      <p:sp>
        <p:nvSpPr>
          <p:cNvPr id="24" name="Right Arrow 23"/>
          <p:cNvSpPr/>
          <p:nvPr/>
        </p:nvSpPr>
        <p:spPr>
          <a:xfrm>
            <a:off x="7251192" y="3749040"/>
            <a:ext cx="128016"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06640" y="1920240"/>
            <a:ext cx="1965960" cy="40233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2103120"/>
            <a:ext cx="1691640" cy="274320"/>
          </a:xfrm>
          <a:prstGeom prst="rect">
            <a:avLst/>
          </a:prstGeom>
          <a:noFill/>
        </p:spPr>
        <p:txBody>
          <a:bodyPr wrap="none">
            <a:spAutoFit/>
          </a:bodyPr>
          <a:lstStyle/>
          <a:p>
            <a:pPr algn="ctr">
              <a:defRPr sz="1000" b="1">
                <a:solidFill>
                  <a:srgbClr val="D97706"/>
                </a:solidFill>
              </a:defRPr>
            </a:pPr>
            <a:r>
              <a:t>STAGE 4</a:t>
            </a:r>
          </a:p>
        </p:txBody>
      </p:sp>
      <p:sp>
        <p:nvSpPr>
          <p:cNvPr id="27" name="TextBox 26"/>
          <p:cNvSpPr txBox="1"/>
          <p:nvPr/>
        </p:nvSpPr>
        <p:spPr>
          <a:xfrm>
            <a:off x="7543800" y="2468880"/>
            <a:ext cx="1691640" cy="640080"/>
          </a:xfrm>
          <a:prstGeom prst="rect">
            <a:avLst/>
          </a:prstGeom>
          <a:noFill/>
        </p:spPr>
        <p:txBody>
          <a:bodyPr wrap="square">
            <a:spAutoFit/>
          </a:bodyPr>
          <a:lstStyle/>
          <a:p>
            <a:pPr algn="ctr">
              <a:defRPr sz="1400" b="1">
                <a:solidFill>
                  <a:srgbClr val="0F172A"/>
                </a:solidFill>
              </a:defRPr>
            </a:pPr>
            <a:r>
              <a:t>Opportunity Match</a:t>
            </a:r>
          </a:p>
        </p:txBody>
      </p:sp>
      <p:sp>
        <p:nvSpPr>
          <p:cNvPr id="28" name="Rectangle 27"/>
          <p:cNvSpPr/>
          <p:nvPr/>
        </p:nvSpPr>
        <p:spPr>
          <a:xfrm>
            <a:off x="7680960" y="3154680"/>
            <a:ext cx="1417320" cy="1828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0" y="3337560"/>
            <a:ext cx="1691640" cy="2286000"/>
          </a:xfrm>
          <a:prstGeom prst="rect">
            <a:avLst/>
          </a:prstGeom>
          <a:noFill/>
        </p:spPr>
        <p:txBody>
          <a:bodyPr wrap="square">
            <a:spAutoFit/>
          </a:bodyPr>
          <a:lstStyle/>
          <a:p>
            <a:pPr algn="ctr">
              <a:defRPr sz="1100">
                <a:solidFill>
                  <a:srgbClr val="475569"/>
                </a:solidFill>
              </a:defRPr>
            </a:pPr>
            <a:r>
              <a:t>Deterministic algorithms match vetted brand briefs; hard eligibility checks filter unqualified applicants.</a:t>
            </a:r>
          </a:p>
        </p:txBody>
      </p:sp>
      <p:sp>
        <p:nvSpPr>
          <p:cNvPr id="30" name="Right Arrow 29"/>
          <p:cNvSpPr/>
          <p:nvPr/>
        </p:nvSpPr>
        <p:spPr>
          <a:xfrm>
            <a:off x="9400032" y="3749040"/>
            <a:ext cx="128016"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55480" y="1920240"/>
            <a:ext cx="1965960" cy="4023360"/>
          </a:xfrm>
          <a:prstGeom prst="roundRect">
            <a:avLst/>
          </a:prstGeom>
          <a:solidFill>
            <a:srgbClr val="F1F5F9"/>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2103120"/>
            <a:ext cx="1691640" cy="274320"/>
          </a:xfrm>
          <a:prstGeom prst="rect">
            <a:avLst/>
          </a:prstGeom>
          <a:noFill/>
        </p:spPr>
        <p:txBody>
          <a:bodyPr wrap="none">
            <a:spAutoFit/>
          </a:bodyPr>
          <a:lstStyle/>
          <a:p>
            <a:pPr algn="ctr">
              <a:defRPr sz="1000" b="1">
                <a:solidFill>
                  <a:srgbClr val="0F172A"/>
                </a:solidFill>
              </a:defRPr>
            </a:pPr>
            <a:r>
              <a:t>STAGE 5</a:t>
            </a:r>
          </a:p>
        </p:txBody>
      </p:sp>
      <p:sp>
        <p:nvSpPr>
          <p:cNvPr id="33" name="TextBox 32"/>
          <p:cNvSpPr txBox="1"/>
          <p:nvPr/>
        </p:nvSpPr>
        <p:spPr>
          <a:xfrm>
            <a:off x="9692640" y="2468880"/>
            <a:ext cx="1691640" cy="640080"/>
          </a:xfrm>
          <a:prstGeom prst="rect">
            <a:avLst/>
          </a:prstGeom>
          <a:noFill/>
        </p:spPr>
        <p:txBody>
          <a:bodyPr wrap="square">
            <a:spAutoFit/>
          </a:bodyPr>
          <a:lstStyle/>
          <a:p>
            <a:pPr algn="ctr">
              <a:defRPr sz="1400" b="1">
                <a:solidFill>
                  <a:srgbClr val="0F172A"/>
                </a:solidFill>
              </a:defRPr>
            </a:pPr>
            <a:r>
              <a:t>Next Best Action</a:t>
            </a:r>
          </a:p>
        </p:txBody>
      </p:sp>
      <p:sp>
        <p:nvSpPr>
          <p:cNvPr id="34" name="Rectangle 33"/>
          <p:cNvSpPr/>
          <p:nvPr/>
        </p:nvSpPr>
        <p:spPr>
          <a:xfrm>
            <a:off x="9829800" y="3154680"/>
            <a:ext cx="141732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3337560"/>
            <a:ext cx="1691640" cy="2286000"/>
          </a:xfrm>
          <a:prstGeom prst="rect">
            <a:avLst/>
          </a:prstGeom>
          <a:noFill/>
        </p:spPr>
        <p:txBody>
          <a:bodyPr wrap="square">
            <a:spAutoFit/>
          </a:bodyPr>
          <a:lstStyle/>
          <a:p>
            <a:pPr algn="ctr">
              <a:defRPr sz="1100">
                <a:solidFill>
                  <a:srgbClr val="475569"/>
                </a:solidFill>
              </a:defRPr>
            </a:pPr>
            <a:r>
              <a:t>Prioritizes execution tasks with explainable 'Why It Matters' rationales, deadlines, and real-time velocity 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FEATURE IMPLEMENTATION STATUS</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How Creator Engine Works in the Prototype</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Clear transparency: Features confirmed functional in code vs. upcoming production roadmap.</a:t>
            </a:r>
          </a:p>
        </p:txBody>
      </p:sp>
      <p:sp>
        <p:nvSpPr>
          <p:cNvPr id="6" name="Rounded Rectangle 5"/>
          <p:cNvSpPr/>
          <p:nvPr/>
        </p:nvSpPr>
        <p:spPr>
          <a:xfrm>
            <a:off x="731520" y="1691640"/>
            <a:ext cx="69494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6583680" cy="365760"/>
          </a:xfrm>
          <a:prstGeom prst="rect">
            <a:avLst/>
          </a:prstGeom>
          <a:noFill/>
        </p:spPr>
        <p:txBody>
          <a:bodyPr wrap="none">
            <a:spAutoFit/>
          </a:bodyPr>
          <a:lstStyle/>
          <a:p>
            <a:pPr>
              <a:defRPr sz="1100" b="1">
                <a:solidFill>
                  <a:srgbClr val="059669"/>
                </a:solidFill>
              </a:defRPr>
            </a:pPr>
            <a:r>
              <a:t>FUNCTIONAL IN THE CODEBASE TODAY (VERIFIED PROTOTYPE)</a:t>
            </a:r>
          </a:p>
        </p:txBody>
      </p:sp>
      <p:sp>
        <p:nvSpPr>
          <p:cNvPr id="8" name="Rounded Rectangle 7"/>
          <p:cNvSpPr/>
          <p:nvPr/>
        </p:nvSpPr>
        <p:spPr>
          <a:xfrm>
            <a:off x="914400" y="224028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9" name="TextBox 8"/>
          <p:cNvSpPr txBox="1"/>
          <p:nvPr/>
        </p:nvSpPr>
        <p:spPr>
          <a:xfrm>
            <a:off x="1280160" y="2194560"/>
            <a:ext cx="6217920" cy="594360"/>
          </a:xfrm>
          <a:prstGeom prst="rect">
            <a:avLst/>
          </a:prstGeom>
          <a:noFill/>
        </p:spPr>
        <p:txBody>
          <a:bodyPr wrap="square">
            <a:spAutoFit/>
          </a:bodyPr>
          <a:lstStyle/>
          <a:p>
            <a:pPr>
              <a:defRPr sz="1100" b="1">
                <a:solidFill>
                  <a:srgbClr val="0F172A"/>
                </a:solidFill>
              </a:defRPr>
            </a:pPr>
            <a:r>
              <a:t>4-Step Creator Onboarding Wizard</a:t>
            </a:r>
          </a:p>
          <a:p>
            <a:pPr>
              <a:defRPr sz="950">
                <a:solidFill>
                  <a:srgbClr val="475569"/>
                </a:solidFill>
              </a:defRPr>
            </a:pPr>
            <a:r>
              <a:t>Collects handles, niches, stages, audience demographics, formats, and income targets (/onboarding).</a:t>
            </a:r>
          </a:p>
        </p:txBody>
      </p:sp>
      <p:sp>
        <p:nvSpPr>
          <p:cNvPr id="10" name="Rounded Rectangle 9"/>
          <p:cNvSpPr/>
          <p:nvPr/>
        </p:nvSpPr>
        <p:spPr>
          <a:xfrm>
            <a:off x="914400" y="288036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11" name="TextBox 10"/>
          <p:cNvSpPr txBox="1"/>
          <p:nvPr/>
        </p:nvSpPr>
        <p:spPr>
          <a:xfrm>
            <a:off x="1280160" y="2834640"/>
            <a:ext cx="6217920" cy="594360"/>
          </a:xfrm>
          <a:prstGeom prst="rect">
            <a:avLst/>
          </a:prstGeom>
          <a:noFill/>
        </p:spPr>
        <p:txBody>
          <a:bodyPr wrap="square">
            <a:spAutoFit/>
          </a:bodyPr>
          <a:lstStyle/>
          <a:p>
            <a:pPr>
              <a:defRPr sz="1100" b="1">
                <a:solidFill>
                  <a:srgbClr val="0F172A"/>
                </a:solidFill>
              </a:defRPr>
            </a:pPr>
            <a:r>
              <a:t>Persona Switcher &amp; Hackathon Demo Bar</a:t>
            </a:r>
          </a:p>
          <a:p>
            <a:pPr>
              <a:defRPr sz="950">
                <a:solidFill>
                  <a:srgbClr val="475569"/>
                </a:solidFill>
              </a:defRPr>
            </a:pPr>
            <a:r>
              <a:t>Instant state toggle between Rahul (Fitness, 15k IG) and Priya (Finance, 8k LI) across all 5 core routes.</a:t>
            </a:r>
          </a:p>
        </p:txBody>
      </p:sp>
      <p:sp>
        <p:nvSpPr>
          <p:cNvPr id="12" name="Rounded Rectangle 11"/>
          <p:cNvSpPr/>
          <p:nvPr/>
        </p:nvSpPr>
        <p:spPr>
          <a:xfrm>
            <a:off x="914400" y="352044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13" name="TextBox 12"/>
          <p:cNvSpPr txBox="1"/>
          <p:nvPr/>
        </p:nvSpPr>
        <p:spPr>
          <a:xfrm>
            <a:off x="1280160" y="3474720"/>
            <a:ext cx="6217920" cy="594360"/>
          </a:xfrm>
          <a:prstGeom prst="rect">
            <a:avLst/>
          </a:prstGeom>
          <a:noFill/>
        </p:spPr>
        <p:txBody>
          <a:bodyPr wrap="square">
            <a:spAutoFit/>
          </a:bodyPr>
          <a:lstStyle/>
          <a:p>
            <a:pPr>
              <a:defRPr sz="1100" b="1">
                <a:solidFill>
                  <a:srgbClr val="0F172A"/>
                </a:solidFill>
              </a:defRPr>
            </a:pPr>
            <a:r>
              <a:t>30/60/90-Day Phased Growth Roadmap</a:t>
            </a:r>
          </a:p>
          <a:p>
            <a:pPr>
              <a:defRPr sz="950">
                <a:solidFill>
                  <a:srgbClr val="475569"/>
                </a:solidFill>
              </a:defRPr>
            </a:pPr>
            <a:r>
              <a:t>Interactive milestone checklists, high-impact content gaps, and skill priorities with overall progress calculation.</a:t>
            </a:r>
          </a:p>
        </p:txBody>
      </p:sp>
      <p:sp>
        <p:nvSpPr>
          <p:cNvPr id="14" name="Rounded Rectangle 13"/>
          <p:cNvSpPr/>
          <p:nvPr/>
        </p:nvSpPr>
        <p:spPr>
          <a:xfrm>
            <a:off x="914400" y="416052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15" name="TextBox 14"/>
          <p:cNvSpPr txBox="1"/>
          <p:nvPr/>
        </p:nvSpPr>
        <p:spPr>
          <a:xfrm>
            <a:off x="1280160" y="4114800"/>
            <a:ext cx="6217920" cy="594360"/>
          </a:xfrm>
          <a:prstGeom prst="rect">
            <a:avLst/>
          </a:prstGeom>
          <a:noFill/>
        </p:spPr>
        <p:txBody>
          <a:bodyPr wrap="square">
            <a:spAutoFit/>
          </a:bodyPr>
          <a:lstStyle/>
          <a:p>
            <a:pPr>
              <a:defRPr sz="1100" b="1">
                <a:solidFill>
                  <a:srgbClr val="0F172A"/>
                </a:solidFill>
              </a:defRPr>
            </a:pPr>
            <a:r>
              <a:t>5-Pathway Monetisation Engine</a:t>
            </a:r>
          </a:p>
          <a:p>
            <a:pPr>
              <a:defRPr sz="950">
                <a:solidFill>
                  <a:srgbClr val="475569"/>
                </a:solidFill>
              </a:defRPr>
            </a:pPr>
            <a:r>
              <a:t>Evaluates micro-sponsorships, affiliate links, consulting, digital guides, and PR with suitability scores 0-100.</a:t>
            </a:r>
          </a:p>
        </p:txBody>
      </p:sp>
      <p:sp>
        <p:nvSpPr>
          <p:cNvPr id="16" name="Rounded Rectangle 15"/>
          <p:cNvSpPr/>
          <p:nvPr/>
        </p:nvSpPr>
        <p:spPr>
          <a:xfrm>
            <a:off x="914400" y="480060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17" name="TextBox 16"/>
          <p:cNvSpPr txBox="1"/>
          <p:nvPr/>
        </p:nvSpPr>
        <p:spPr>
          <a:xfrm>
            <a:off x="1280160" y="4754880"/>
            <a:ext cx="6217920" cy="594360"/>
          </a:xfrm>
          <a:prstGeom prst="rect">
            <a:avLst/>
          </a:prstGeom>
          <a:noFill/>
        </p:spPr>
        <p:txBody>
          <a:bodyPr wrap="square">
            <a:spAutoFit/>
          </a:bodyPr>
          <a:lstStyle/>
          <a:p>
            <a:pPr>
              <a:defRPr sz="1100" b="1">
                <a:solidFill>
                  <a:srgbClr val="0F172A"/>
                </a:solidFill>
              </a:defRPr>
            </a:pPr>
            <a:r>
              <a:t>Deterministic Opportunity Marketplace</a:t>
            </a:r>
          </a:p>
          <a:p>
            <a:pPr>
              <a:defRPr sz="950">
                <a:solidFill>
                  <a:srgbClr val="475569"/>
                </a:solidFill>
              </a:defRPr>
            </a:pPr>
            <a:r>
              <a:t>8 vetted brand briefs with mathematical compatibility scoring and hard eligibility checks (e.g. MyProtein vs Wint Wealth).</a:t>
            </a:r>
          </a:p>
        </p:txBody>
      </p:sp>
      <p:sp>
        <p:nvSpPr>
          <p:cNvPr id="18" name="Rounded Rectangle 17"/>
          <p:cNvSpPr/>
          <p:nvPr/>
        </p:nvSpPr>
        <p:spPr>
          <a:xfrm>
            <a:off x="914400" y="5440680"/>
            <a:ext cx="256032" cy="256032"/>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a:t>
            </a:r>
          </a:p>
        </p:txBody>
      </p:sp>
      <p:sp>
        <p:nvSpPr>
          <p:cNvPr id="19" name="TextBox 18"/>
          <p:cNvSpPr txBox="1"/>
          <p:nvPr/>
        </p:nvSpPr>
        <p:spPr>
          <a:xfrm>
            <a:off x="1280160" y="5394960"/>
            <a:ext cx="6217920" cy="594360"/>
          </a:xfrm>
          <a:prstGeom prst="rect">
            <a:avLst/>
          </a:prstGeom>
          <a:noFill/>
        </p:spPr>
        <p:txBody>
          <a:bodyPr wrap="square">
            <a:spAutoFit/>
          </a:bodyPr>
          <a:lstStyle/>
          <a:p>
            <a:pPr>
              <a:defRPr sz="1100" b="1">
                <a:solidFill>
                  <a:srgbClr val="0F172A"/>
                </a:solidFill>
              </a:defRPr>
            </a:pPr>
            <a:r>
              <a:t>Action Centre &amp; Real-time Velocity</a:t>
            </a:r>
          </a:p>
          <a:p>
            <a:pPr>
              <a:defRPr sz="950">
                <a:solidFill>
                  <a:srgbClr val="475569"/>
                </a:solidFill>
              </a:defRPr>
            </a:pPr>
            <a:r>
              <a:t>Status transitions ('Not started' -&gt; 'In progress' -&gt; 'Completed'), velocity tracking, custom action creation, and Supabase sync.</a:t>
            </a:r>
          </a:p>
        </p:txBody>
      </p:sp>
      <p:sp>
        <p:nvSpPr>
          <p:cNvPr id="20" name="Rounded Rectangle 19"/>
          <p:cNvSpPr/>
          <p:nvPr/>
        </p:nvSpPr>
        <p:spPr>
          <a:xfrm>
            <a:off x="7863840" y="1691640"/>
            <a:ext cx="359633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828800"/>
            <a:ext cx="3200400" cy="365760"/>
          </a:xfrm>
          <a:prstGeom prst="rect">
            <a:avLst/>
          </a:prstGeom>
          <a:noFill/>
        </p:spPr>
        <p:txBody>
          <a:bodyPr wrap="none">
            <a:spAutoFit/>
          </a:bodyPr>
          <a:lstStyle/>
          <a:p>
            <a:pPr>
              <a:defRPr sz="1100" b="1">
                <a:solidFill>
                  <a:srgbClr val="2563EB"/>
                </a:solidFill>
              </a:defRPr>
            </a:pPr>
            <a:r>
              <a:t>LIVE INTEGRATION STATUS</a:t>
            </a:r>
          </a:p>
        </p:txBody>
      </p:sp>
      <p:sp>
        <p:nvSpPr>
          <p:cNvPr id="22" name="Rounded Rectangle 21"/>
          <p:cNvSpPr/>
          <p:nvPr/>
        </p:nvSpPr>
        <p:spPr>
          <a:xfrm>
            <a:off x="8046720" y="2240280"/>
            <a:ext cx="3200400"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1050" b="1">
                <a:solidFill>
                  <a:srgbClr val="0F172A"/>
                </a:solidFill>
              </a:defRPr>
            </a:pPr>
            <a:r>
              <a:t>Supabase Cloud Database</a:t>
            </a:r>
          </a:p>
          <a:p>
            <a:pPr>
              <a:defRPr sz="950" b="1">
                <a:solidFill>
                  <a:srgbClr val="059669"/>
                </a:solidFill>
              </a:defRPr>
            </a:pPr>
            <a:r>
              <a:t>Status: Connected &amp; Verified</a:t>
            </a:r>
          </a:p>
          <a:p>
            <a:pPr>
              <a:defRPr sz="850">
                <a:solidFill>
                  <a:srgbClr val="475569"/>
                </a:solidFill>
              </a:defRPr>
            </a:pPr>
            <a:r>
              <a:t>PostgreSQL relational schema with RLS policies, 5 tables, and auto updated_at triggers.</a:t>
            </a:r>
          </a:p>
        </p:txBody>
      </p:sp>
      <p:sp>
        <p:nvSpPr>
          <p:cNvPr id="23" name="Rounded Rectangle 22"/>
          <p:cNvSpPr/>
          <p:nvPr/>
        </p:nvSpPr>
        <p:spPr>
          <a:xfrm>
            <a:off x="8046720" y="3200400"/>
            <a:ext cx="3200400"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1050" b="1">
                <a:solidFill>
                  <a:srgbClr val="0F172A"/>
                </a:solidFill>
              </a:defRPr>
            </a:pPr>
            <a:r>
              <a:t>Google Gemini API</a:t>
            </a:r>
          </a:p>
          <a:p>
            <a:pPr>
              <a:defRPr sz="950" b="1">
                <a:solidFill>
                  <a:srgbClr val="059669"/>
                </a:solidFill>
              </a:defRPr>
            </a:pPr>
            <a:r>
              <a:t>Status: Connected &amp; Verified</a:t>
            </a:r>
          </a:p>
          <a:p>
            <a:pPr>
              <a:defRPr sz="850">
                <a:solidFill>
                  <a:srgbClr val="475569"/>
                </a:solidFill>
              </a:defRPr>
            </a:pPr>
            <a:r>
              <a:t>Server-side /api/recommendations route via @google/genai with candidate model fallback and schema validator.</a:t>
            </a:r>
          </a:p>
        </p:txBody>
      </p:sp>
      <p:sp>
        <p:nvSpPr>
          <p:cNvPr id="24" name="Rounded Rectangle 23"/>
          <p:cNvSpPr/>
          <p:nvPr/>
        </p:nvSpPr>
        <p:spPr>
          <a:xfrm>
            <a:off x="8046720" y="4160520"/>
            <a:ext cx="3200400" cy="8686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1050" b="1">
                <a:solidFill>
                  <a:srgbClr val="0F172A"/>
                </a:solidFill>
              </a:defRPr>
            </a:pPr>
            <a:r>
              <a:t>Deterministic Match Engine</a:t>
            </a:r>
          </a:p>
          <a:p>
            <a:pPr>
              <a:defRPr sz="950" b="1">
                <a:solidFill>
                  <a:srgbClr val="2563EB"/>
                </a:solidFill>
              </a:defRPr>
            </a:pPr>
            <a:r>
              <a:t>Status: Active in App Code</a:t>
            </a:r>
          </a:p>
          <a:p>
            <a:pPr>
              <a:defRPr sz="850">
                <a:solidFill>
                  <a:srgbClr val="475569"/>
                </a:solidFill>
              </a:defRPr>
            </a:pPr>
            <a:r>
              <a:t>Strict mathematical scoring preventing AI hallucination of brand criteria or campaign availability.</a:t>
            </a:r>
          </a:p>
        </p:txBody>
      </p:sp>
      <p:sp>
        <p:nvSpPr>
          <p:cNvPr id="25" name="Rounded Rectangle 24"/>
          <p:cNvSpPr/>
          <p:nvPr/>
        </p:nvSpPr>
        <p:spPr>
          <a:xfrm>
            <a:off x="8046720" y="5120640"/>
            <a:ext cx="3200400" cy="86868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1050" b="1">
                <a:solidFill>
                  <a:srgbClr val="0F172A"/>
                </a:solidFill>
              </a:defRPr>
            </a:pPr>
            <a:r>
              <a:t>OAuth Live Scraping</a:t>
            </a:r>
          </a:p>
          <a:p>
            <a:pPr>
              <a:defRPr sz="950" b="1">
                <a:solidFill>
                  <a:srgbClr val="D97706"/>
                </a:solidFill>
              </a:defRPr>
            </a:pPr>
            <a:r>
              <a:t>Status: Planned (Read-Only)</a:t>
            </a:r>
          </a:p>
          <a:p>
            <a:pPr>
              <a:defRPr sz="850">
                <a:solidFill>
                  <a:srgbClr val="475569"/>
                </a:solidFill>
              </a:defRPr>
            </a:pPr>
            <a:r>
              <a:t>Consent-based official Instagram Graph API &amp; LinkedIn API authentication on production launch.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STRATEGIC AI GUIDANCE</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AI-Powered Growth Engine: Calibrated Roadmap &amp; Gap Analysis</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Synthesizing structured strategic guidance via Google Gemini with deterministic fallback.</a:t>
            </a:r>
          </a:p>
        </p:txBody>
      </p:sp>
      <p:sp>
        <p:nvSpPr>
          <p:cNvPr id="6" name="Rounded Rectangle 5"/>
          <p:cNvSpPr/>
          <p:nvPr/>
        </p:nvSpPr>
        <p:spPr>
          <a:xfrm>
            <a:off x="731520" y="169164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856232"/>
            <a:ext cx="2926080" cy="292608"/>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CREATOR POSITIONING THESIS</a:t>
            </a:r>
          </a:p>
        </p:txBody>
      </p:sp>
      <p:sp>
        <p:nvSpPr>
          <p:cNvPr id="8" name="TextBox 7"/>
          <p:cNvSpPr txBox="1"/>
          <p:nvPr/>
        </p:nvSpPr>
        <p:spPr>
          <a:xfrm>
            <a:off x="914400" y="2194560"/>
            <a:ext cx="4846320" cy="1554480"/>
          </a:xfrm>
          <a:prstGeom prst="rect">
            <a:avLst/>
          </a:prstGeom>
          <a:noFill/>
        </p:spPr>
        <p:txBody>
          <a:bodyPr wrap="square">
            <a:spAutoFit/>
          </a:bodyPr>
          <a:lstStyle/>
          <a:p/>
          <a:p>
            <a:pPr>
              <a:spcAft>
                <a:spcPts val="400"/>
              </a:spcAft>
              <a:defRPr sz="1000">
                <a:solidFill>
                  <a:srgbClr val="475569"/>
                </a:solidFill>
              </a:defRPr>
            </a:pPr>
            <a:r>
              <a:t>• Synthesizes a sharp, defensible market thesis for creator bio and media kit.</a:t>
            </a:r>
          </a:p>
          <a:p>
            <a:pPr>
              <a:spcAft>
                <a:spcPts val="400"/>
              </a:spcAft>
              <a:defRPr sz="1000">
                <a:solidFill>
                  <a:srgbClr val="475569"/>
                </a:solidFill>
              </a:defRPr>
            </a:pPr>
            <a:r>
              <a:t>• Example (Rahul): 'Democratizing accessible fitness for 15,000+ Indian university students through realistic hostel meal preps &amp; zero-equipment bodyweight training.'</a:t>
            </a:r>
          </a:p>
          <a:p>
            <a:pPr>
              <a:spcAft>
                <a:spcPts val="400"/>
              </a:spcAft>
              <a:defRPr sz="1000">
                <a:solidFill>
                  <a:srgbClr val="475569"/>
                </a:solidFill>
              </a:defRPr>
            </a:pPr>
            <a:r>
              <a:t>• Differentiates the creator from generic fitness models by focusing on student dorm realities.</a:t>
            </a:r>
          </a:p>
        </p:txBody>
      </p:sp>
      <p:sp>
        <p:nvSpPr>
          <p:cNvPr id="9" name="Rounded Rectangle 8"/>
          <p:cNvSpPr/>
          <p:nvPr/>
        </p:nvSpPr>
        <p:spPr>
          <a:xfrm>
            <a:off x="6217920" y="169164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1856232"/>
            <a:ext cx="2926080" cy="292608"/>
          </a:xfrm>
          <a:prstGeom prst="roundRect">
            <a:avLst/>
          </a:prstGeom>
          <a:solidFill>
            <a:srgbClr val="FFF1F2"/>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E11D48"/>
                </a:solidFill>
              </a:defRPr>
            </a:pPr>
            <a:r>
              <a:t>ALGORITHMIC CONTENT GAPS</a:t>
            </a:r>
          </a:p>
        </p:txBody>
      </p:sp>
      <p:sp>
        <p:nvSpPr>
          <p:cNvPr id="11" name="TextBox 10"/>
          <p:cNvSpPr txBox="1"/>
          <p:nvPr/>
        </p:nvSpPr>
        <p:spPr>
          <a:xfrm>
            <a:off x="6400800" y="2194560"/>
            <a:ext cx="4846320" cy="1554480"/>
          </a:xfrm>
          <a:prstGeom prst="rect">
            <a:avLst/>
          </a:prstGeom>
          <a:noFill/>
        </p:spPr>
        <p:txBody>
          <a:bodyPr wrap="square">
            <a:spAutoFit/>
          </a:bodyPr>
          <a:lstStyle/>
          <a:p/>
          <a:p>
            <a:pPr>
              <a:spcAft>
                <a:spcPts val="400"/>
              </a:spcAft>
              <a:defRPr sz="1000">
                <a:solidFill>
                  <a:srgbClr val="475569"/>
                </a:solidFill>
              </a:defRPr>
            </a:pPr>
            <a:r>
              <a:t>• Identifies specific retention flaws suppressing organic algorithmic distribution.</a:t>
            </a:r>
          </a:p>
          <a:p>
            <a:pPr>
              <a:spcAft>
                <a:spcPts val="400"/>
              </a:spcAft>
              <a:defRPr sz="1000">
                <a:solidFill>
                  <a:srgbClr val="475569"/>
                </a:solidFill>
              </a:defRPr>
            </a:pPr>
            <a:r>
              <a:t>• 3-Second Hook Drop-off (Critical): Missing bold on-screen text in frames 0-45; noise-sensitive student viewers swipe past.</a:t>
            </a:r>
          </a:p>
          <a:p>
            <a:pPr>
              <a:spcAft>
                <a:spcPts val="400"/>
              </a:spcAft>
              <a:defRPr sz="1000">
                <a:solidFill>
                  <a:srgbClr val="475569"/>
                </a:solidFill>
              </a:defRPr>
            </a:pPr>
            <a:r>
              <a:t>• Zero Long-term Saves (High): Reels lack a downloadable slide; algorithmic exploration decays within 24 hours.</a:t>
            </a:r>
          </a:p>
        </p:txBody>
      </p:sp>
      <p:sp>
        <p:nvSpPr>
          <p:cNvPr id="12" name="Rounded Rectangle 11"/>
          <p:cNvSpPr/>
          <p:nvPr/>
        </p:nvSpPr>
        <p:spPr>
          <a:xfrm>
            <a:off x="731520" y="402336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4187952"/>
            <a:ext cx="2926080" cy="292608"/>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4F46E5"/>
                </a:solidFill>
              </a:defRPr>
            </a:pPr>
            <a:r>
              <a:t>SKILL ACCELERATION PRIORITIES</a:t>
            </a:r>
          </a:p>
        </p:txBody>
      </p:sp>
      <p:sp>
        <p:nvSpPr>
          <p:cNvPr id="14" name="TextBox 13"/>
          <p:cNvSpPr txBox="1"/>
          <p:nvPr/>
        </p:nvSpPr>
        <p:spPr>
          <a:xfrm>
            <a:off x="914400" y="4526280"/>
            <a:ext cx="4846320" cy="1554480"/>
          </a:xfrm>
          <a:prstGeom prst="rect">
            <a:avLst/>
          </a:prstGeom>
          <a:noFill/>
        </p:spPr>
        <p:txBody>
          <a:bodyPr wrap="square">
            <a:spAutoFit/>
          </a:bodyPr>
          <a:lstStyle/>
          <a:p/>
          <a:p>
            <a:pPr>
              <a:spcAft>
                <a:spcPts val="400"/>
              </a:spcAft>
              <a:defRPr sz="1000">
                <a:solidFill>
                  <a:srgbClr val="475569"/>
                </a:solidFill>
              </a:defRPr>
            </a:pPr>
            <a:r>
              <a:t>• Categorizes high-leverage skills into Content Production, Commercial Pitching &amp; Strategy.</a:t>
            </a:r>
          </a:p>
          <a:p>
            <a:pPr>
              <a:spcAft>
                <a:spcPts val="400"/>
              </a:spcAft>
              <a:defRPr sz="1000">
                <a:solidFill>
                  <a:srgbClr val="475569"/>
                </a:solidFill>
              </a:defRPr>
            </a:pPr>
            <a:r>
              <a:t>• Visual Retention Hooks (Critical): Add dynamic movement or bold problem statements upfront.</a:t>
            </a:r>
          </a:p>
          <a:p>
            <a:pPr>
              <a:spcAft>
                <a:spcPts val="400"/>
              </a:spcAft>
              <a:defRPr sz="1000">
                <a:solidFill>
                  <a:srgbClr val="475569"/>
                </a:solidFill>
              </a:defRPr>
            </a:pPr>
            <a:r>
              <a:t>• Sponsorship Rate Negotiation (High): Package 1 Reel + 3 Story frames with 30-day organic usage rights.</a:t>
            </a:r>
          </a:p>
        </p:txBody>
      </p:sp>
      <p:sp>
        <p:nvSpPr>
          <p:cNvPr id="15" name="Rounded Rectangle 14"/>
          <p:cNvSpPr/>
          <p:nvPr/>
        </p:nvSpPr>
        <p:spPr>
          <a:xfrm>
            <a:off x="6217920" y="402336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187952"/>
            <a:ext cx="2926080" cy="292608"/>
          </a:xfrm>
          <a:prstGeom prst="roundRect">
            <a:avLst/>
          </a:prstGeom>
          <a:solidFill>
            <a:srgbClr val="ECFDF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59669"/>
                </a:solidFill>
              </a:defRPr>
            </a:pPr>
            <a:r>
              <a:t>HIGH-IMPACT TOPIC OPPORTUNITIES</a:t>
            </a:r>
          </a:p>
        </p:txBody>
      </p:sp>
      <p:sp>
        <p:nvSpPr>
          <p:cNvPr id="17" name="TextBox 16"/>
          <p:cNvSpPr txBox="1"/>
          <p:nvPr/>
        </p:nvSpPr>
        <p:spPr>
          <a:xfrm>
            <a:off x="6400800" y="4526280"/>
            <a:ext cx="4846320" cy="1554480"/>
          </a:xfrm>
          <a:prstGeom prst="rect">
            <a:avLst/>
          </a:prstGeom>
          <a:noFill/>
        </p:spPr>
        <p:txBody>
          <a:bodyPr wrap="square">
            <a:spAutoFit/>
          </a:bodyPr>
          <a:lstStyle/>
          <a:p/>
          <a:p>
            <a:pPr>
              <a:spcAft>
                <a:spcPts val="400"/>
              </a:spcAft>
              <a:defRPr sz="1000">
                <a:solidFill>
                  <a:srgbClr val="475569"/>
                </a:solidFill>
              </a:defRPr>
            </a:pPr>
            <a:r>
              <a:t>• Formulates specific video angles with psychological hooks and suggested formats.</a:t>
            </a:r>
          </a:p>
          <a:p>
            <a:pPr>
              <a:spcAft>
                <a:spcPts val="400"/>
              </a:spcAft>
              <a:defRPr sz="1000">
                <a:solidFill>
                  <a:srgbClr val="475569"/>
                </a:solidFill>
              </a:defRPr>
            </a:pPr>
            <a:r>
              <a:t>• Topic 1: '5 High-Protein Hostel Mess Hacks Under ₹40' (Fast-paced vertical reel with price callouts).</a:t>
            </a:r>
          </a:p>
          <a:p>
            <a:pPr>
              <a:spcAft>
                <a:spcPts val="400"/>
              </a:spcAft>
              <a:defRPr sz="1000">
                <a:solidFill>
                  <a:srgbClr val="475569"/>
                </a:solidFill>
              </a:defRPr>
            </a:pPr>
            <a:r>
              <a:t>• Topic 2: 'Zero-Equipment Pull-Up Progression in a Dorm Doorframe' (Step-by-step form tutorial reel).</a:t>
            </a:r>
          </a:p>
        </p:txBody>
      </p:sp>
      <p:sp>
        <p:nvSpPr>
          <p:cNvPr id="18" name="Rectangle 17"/>
          <p:cNvSpPr/>
          <p:nvPr/>
        </p:nvSpPr>
        <p:spPr>
          <a:xfrm>
            <a:off x="731520" y="6309360"/>
            <a:ext cx="10728655" cy="274320"/>
          </a:xfrm>
          <a:prstGeom prst="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97706"/>
                </a:solidFill>
              </a:defRPr>
            </a:pPr>
            <a:r>
              <a:t>Notice: Recommendations synthesized via Gemini API server route (/api/recommendations) with schema sanitization and offline fallback.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REVENUE &amp; MARKETPLACE ENGINE</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Monetisation Pathways &amp; Deterministic Opportunity Marketplace</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Evaluating 5 distinct revenue streams and connecting creators to transparent brand briefs.</a:t>
            </a:r>
          </a:p>
        </p:txBody>
      </p:sp>
      <p:sp>
        <p:nvSpPr>
          <p:cNvPr id="6" name="Rounded Rectangle 5"/>
          <p:cNvSpPr/>
          <p:nvPr/>
        </p:nvSpPr>
        <p:spPr>
          <a:xfrm>
            <a:off x="731520" y="16916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320040"/>
          </a:xfrm>
          <a:prstGeom prst="rect">
            <a:avLst/>
          </a:prstGeom>
          <a:noFill/>
        </p:spPr>
        <p:txBody>
          <a:bodyPr wrap="none">
            <a:spAutoFit/>
          </a:bodyPr>
          <a:lstStyle/>
          <a:p>
            <a:pPr>
              <a:defRPr sz="1100" b="1">
                <a:solidFill>
                  <a:srgbClr val="059669"/>
                </a:solidFill>
              </a:defRPr>
            </a:pPr>
            <a:r>
              <a:t>5 DIVERSIFIED REVENUE PATHWAYS</a:t>
            </a:r>
          </a:p>
        </p:txBody>
      </p:sp>
      <p:sp>
        <p:nvSpPr>
          <p:cNvPr id="8" name="Rounded Rectangle 7"/>
          <p:cNvSpPr/>
          <p:nvPr/>
        </p:nvSpPr>
        <p:spPr>
          <a:xfrm>
            <a:off x="914400" y="2194560"/>
            <a:ext cx="4754880" cy="7132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31136"/>
            <a:ext cx="4480560" cy="640080"/>
          </a:xfrm>
          <a:prstGeom prst="rect">
            <a:avLst/>
          </a:prstGeom>
          <a:noFill/>
        </p:spPr>
        <p:txBody>
          <a:bodyPr wrap="square">
            <a:spAutoFit/>
          </a:bodyPr>
          <a:lstStyle/>
          <a:p>
            <a:pPr>
              <a:defRPr sz="1000" b="1">
                <a:solidFill>
                  <a:srgbClr val="0F172A"/>
                </a:solidFill>
              </a:defRPr>
            </a:pPr>
            <a:r>
              <a:t>Micro-Sponsorships &amp; Dedicated Reels (Score: 94%)</a:t>
            </a:r>
          </a:p>
          <a:p>
            <a:pPr>
              <a:defRPr sz="850">
                <a:solidFill>
                  <a:srgbClr val="475569"/>
                </a:solidFill>
              </a:defRPr>
            </a:pPr>
            <a:r>
              <a:t>D2C brands hunt for creators with &gt;4% ER; student dorm setups deliver 3x higher trust than studio shoots.</a:t>
            </a:r>
          </a:p>
        </p:txBody>
      </p:sp>
      <p:sp>
        <p:nvSpPr>
          <p:cNvPr id="10" name="Rounded Rectangle 9"/>
          <p:cNvSpPr/>
          <p:nvPr/>
        </p:nvSpPr>
        <p:spPr>
          <a:xfrm>
            <a:off x="914400" y="2971800"/>
            <a:ext cx="4754880" cy="7132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08376"/>
            <a:ext cx="4480560" cy="640080"/>
          </a:xfrm>
          <a:prstGeom prst="rect">
            <a:avLst/>
          </a:prstGeom>
          <a:noFill/>
        </p:spPr>
        <p:txBody>
          <a:bodyPr wrap="square">
            <a:spAutoFit/>
          </a:bodyPr>
          <a:lstStyle/>
          <a:p>
            <a:pPr>
              <a:defRPr sz="1000" b="1">
                <a:solidFill>
                  <a:srgbClr val="0F172A"/>
                </a:solidFill>
              </a:defRPr>
            </a:pPr>
            <a:r>
              <a:t>Curated Supplement &amp; Gear Affiliate Codes (Score: 88%)</a:t>
            </a:r>
          </a:p>
          <a:p>
            <a:pPr>
              <a:defRPr sz="850">
                <a:solidFill>
                  <a:srgbClr val="475569"/>
                </a:solidFill>
              </a:defRPr>
            </a:pPr>
            <a:r>
              <a:t>Immediate passive revenue answering frequent DM queries with 10-15% commission coupons.</a:t>
            </a:r>
          </a:p>
        </p:txBody>
      </p:sp>
      <p:sp>
        <p:nvSpPr>
          <p:cNvPr id="12" name="Rounded Rectangle 11"/>
          <p:cNvSpPr/>
          <p:nvPr/>
        </p:nvSpPr>
        <p:spPr>
          <a:xfrm>
            <a:off x="914400" y="3749040"/>
            <a:ext cx="4754880" cy="71323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85616"/>
            <a:ext cx="4480560" cy="640080"/>
          </a:xfrm>
          <a:prstGeom prst="rect">
            <a:avLst/>
          </a:prstGeom>
          <a:noFill/>
        </p:spPr>
        <p:txBody>
          <a:bodyPr wrap="square">
            <a:spAutoFit/>
          </a:bodyPr>
          <a:lstStyle/>
          <a:p>
            <a:pPr>
              <a:defRPr sz="1000" b="1">
                <a:solidFill>
                  <a:srgbClr val="0F172A"/>
                </a:solidFill>
              </a:defRPr>
            </a:pPr>
            <a:r>
              <a:t>Dorm Calisthenics Blueprint (Digital Guide) (Score: 82%)</a:t>
            </a:r>
          </a:p>
          <a:p>
            <a:pPr>
              <a:defRPr sz="850">
                <a:solidFill>
                  <a:srgbClr val="475569"/>
                </a:solidFill>
              </a:defRPr>
            </a:pPr>
            <a:r>
              <a:t>₹299 low-friction PDF + unlisted video workout program with zero ongoing delivery overhead.</a:t>
            </a:r>
          </a:p>
        </p:txBody>
      </p:sp>
      <p:sp>
        <p:nvSpPr>
          <p:cNvPr id="14" name="Rounded Rectangle 13"/>
          <p:cNvSpPr/>
          <p:nvPr/>
        </p:nvSpPr>
        <p:spPr>
          <a:xfrm>
            <a:off x="914400" y="4526280"/>
            <a:ext cx="4754880" cy="7132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562856"/>
            <a:ext cx="4480560" cy="640080"/>
          </a:xfrm>
          <a:prstGeom prst="rect">
            <a:avLst/>
          </a:prstGeom>
          <a:noFill/>
        </p:spPr>
        <p:txBody>
          <a:bodyPr wrap="square">
            <a:spAutoFit/>
          </a:bodyPr>
          <a:lstStyle/>
          <a:p>
            <a:pPr>
              <a:defRPr sz="1000" b="1">
                <a:solidFill>
                  <a:srgbClr val="0F172A"/>
                </a:solidFill>
              </a:defRPr>
            </a:pPr>
            <a:r>
              <a:t>1:1 Advisory Calls &amp; Consultations (Score: 74%)</a:t>
            </a:r>
          </a:p>
          <a:p>
            <a:pPr>
              <a:defRPr sz="850">
                <a:solidFill>
                  <a:srgbClr val="475569"/>
                </a:solidFill>
              </a:defRPr>
            </a:pPr>
            <a:r>
              <a:t>High suitability for technical/finance creators (e.g. Priya) offering private 30-min strategy sessions.</a:t>
            </a:r>
          </a:p>
        </p:txBody>
      </p:sp>
      <p:sp>
        <p:nvSpPr>
          <p:cNvPr id="16" name="Rounded Rectangle 15"/>
          <p:cNvSpPr/>
          <p:nvPr/>
        </p:nvSpPr>
        <p:spPr>
          <a:xfrm>
            <a:off x="914400" y="5303520"/>
            <a:ext cx="4754880" cy="71323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340096"/>
            <a:ext cx="4480560" cy="640080"/>
          </a:xfrm>
          <a:prstGeom prst="rect">
            <a:avLst/>
          </a:prstGeom>
          <a:noFill/>
        </p:spPr>
        <p:txBody>
          <a:bodyPr wrap="square">
            <a:spAutoFit/>
          </a:bodyPr>
          <a:lstStyle/>
          <a:p>
            <a:pPr>
              <a:defRPr sz="1000" b="1">
                <a:solidFill>
                  <a:srgbClr val="0F172A"/>
                </a:solidFill>
              </a:defRPr>
            </a:pPr>
            <a:r>
              <a:t>Corporate Workshops &amp; PR Speaking (Score: 68%)</a:t>
            </a:r>
          </a:p>
          <a:p>
            <a:pPr>
              <a:defRPr sz="850">
                <a:solidFill>
                  <a:srgbClr val="475569"/>
                </a:solidFill>
              </a:defRPr>
            </a:pPr>
            <a:r>
              <a:t>B2B employee financial wellness seminars charging ₹25k-₹40k per corporate session.</a:t>
            </a:r>
          </a:p>
        </p:txBody>
      </p:sp>
      <p:sp>
        <p:nvSpPr>
          <p:cNvPr id="18" name="Rounded Rectangle 17"/>
          <p:cNvSpPr/>
          <p:nvPr/>
        </p:nvSpPr>
        <p:spPr>
          <a:xfrm>
            <a:off x="6126480" y="1691640"/>
            <a:ext cx="533369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828800"/>
            <a:ext cx="4937760" cy="320040"/>
          </a:xfrm>
          <a:prstGeom prst="rect">
            <a:avLst/>
          </a:prstGeom>
          <a:noFill/>
        </p:spPr>
        <p:txBody>
          <a:bodyPr wrap="none">
            <a:spAutoFit/>
          </a:bodyPr>
          <a:lstStyle/>
          <a:p>
            <a:pPr>
              <a:defRPr sz="1100" b="1">
                <a:solidFill>
                  <a:srgbClr val="2563EB"/>
                </a:solidFill>
              </a:defRPr>
            </a:pPr>
            <a:r>
              <a:t>VETTED OPPORTUNITY CARD BREAKDOWN</a:t>
            </a:r>
          </a:p>
        </p:txBody>
      </p:sp>
      <p:sp>
        <p:nvSpPr>
          <p:cNvPr id="20" name="Rounded Rectangle 19"/>
          <p:cNvSpPr/>
          <p:nvPr/>
        </p:nvSpPr>
        <p:spPr>
          <a:xfrm>
            <a:off x="6309360" y="2194560"/>
            <a:ext cx="4967935" cy="38862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331720"/>
            <a:ext cx="4572000" cy="3611880"/>
          </a:xfrm>
          <a:prstGeom prst="rect">
            <a:avLst/>
          </a:prstGeom>
          <a:noFill/>
        </p:spPr>
        <p:txBody>
          <a:bodyPr wrap="square">
            <a:spAutoFit/>
          </a:bodyPr>
          <a:lstStyle/>
          <a:p>
            <a:pPr>
              <a:defRPr sz="1300" b="1">
                <a:solidFill>
                  <a:srgbClr val="0F172A"/>
                </a:solidFill>
              </a:defRPr>
            </a:pPr>
            <a:r>
              <a:t>[BRAND BRIEF] MyProtein India • Campus Fitness Fuel</a:t>
            </a:r>
          </a:p>
          <a:p>
            <a:pPr>
              <a:defRPr sz="950" b="1">
                <a:solidFill>
                  <a:srgbClr val="475569"/>
                </a:solidFill>
              </a:defRPr>
            </a:pPr>
            <a:r>
              <a:t>Niche: Fitness &amp; Nutrition  |  Platform: Instagram  |  Budget: ₹25,000 – ₹40,000</a:t>
            </a:r>
          </a:p>
          <a:p>
            <a:pPr>
              <a:defRPr sz="950">
                <a:solidFill>
                  <a:srgbClr val="0F172A"/>
                </a:solidFill>
              </a:defRPr>
            </a:pPr>
            <a:r>
              <a:t>Deliverables: 2x Instagram Reels (60s) + 3x Story Frames with exclusive discount link.</a:t>
            </a:r>
          </a:p>
          <a:p>
            <a:pPr>
              <a:spcBef>
                <a:spcPts val="1000"/>
              </a:spcBef>
              <a:defRPr sz="1100" b="1">
                <a:solidFill>
                  <a:srgbClr val="059669"/>
                </a:solidFill>
              </a:defRPr>
            </a:pPr>
            <a:r>
              <a:t>Deterministic Match Score: 96% Match • Status: VERIFIED ELIGIBLE</a:t>
            </a:r>
          </a:p>
          <a:p>
            <a:pPr>
              <a:defRPr sz="900">
                <a:solidFill>
                  <a:srgbClr val="475569"/>
                </a:solidFill>
              </a:defRPr>
            </a:pPr>
            <a:r>
              <a:t>✓ Follower Count: 15,000 (Required: &gt;= 10,000)</a:t>
            </a:r>
          </a:p>
          <a:p>
            <a:pPr>
              <a:defRPr sz="900">
                <a:solidFill>
                  <a:srgbClr val="475569"/>
                </a:solidFill>
              </a:defRPr>
            </a:pPr>
            <a:r>
              <a:t>✓ Engagement Rate: 4.8% (Required: &gt;= 3.5%)</a:t>
            </a:r>
          </a:p>
          <a:p>
            <a:pPr>
              <a:defRPr sz="900">
                <a:solidFill>
                  <a:srgbClr val="475569"/>
                </a:solidFill>
              </a:defRPr>
            </a:pPr>
            <a:r>
              <a:t>✓ Primary Platform: Instagram (Matches brief platform)</a:t>
            </a:r>
          </a:p>
          <a:p>
            <a:pPr>
              <a:defRPr sz="900">
                <a:solidFill>
                  <a:srgbClr val="475569"/>
                </a:solidFill>
              </a:defRPr>
            </a:pPr>
            <a:r>
              <a:t>✓ Niche Alignment: Fitness &amp; Nutrition (100% keyword match)</a:t>
            </a:r>
          </a:p>
          <a:p>
            <a:pPr>
              <a:defRPr sz="900">
                <a:solidFill>
                  <a:srgbClr val="475569"/>
                </a:solidFill>
              </a:defRPr>
            </a:pPr>
            <a:r>
              <a:t>✓ Target Demographic: 18-24 Student audience in India</a:t>
            </a:r>
          </a:p>
          <a:p>
            <a:pPr>
              <a:spcBef>
                <a:spcPts val="800"/>
              </a:spcBef>
              <a:defRPr sz="800" i="1">
                <a:solidFill>
                  <a:srgbClr val="94A3B8"/>
                </a:solidFill>
              </a:defRPr>
            </a:pPr>
            <a:r>
              <a:t>*Demo Notice: Fictional campaign brief reflecting standard industry brand deliverables.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CRITICAL HACKATHON DEMONSTRATION</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Two Creators, Two Completely Different Strategic Playbooks</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Demonstrating deep personalization: Recommendations completely invert between Rahul and Priya.</a:t>
            </a:r>
          </a:p>
        </p:txBody>
      </p:sp>
      <p:sp>
        <p:nvSpPr>
          <p:cNvPr id="6" name="Rounded Rectangle 5"/>
          <p:cNvSpPr/>
          <p:nvPr/>
        </p:nvSpPr>
        <p:spPr>
          <a:xfrm>
            <a:off x="731520" y="1691640"/>
            <a:ext cx="5212080" cy="4572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874519"/>
            <a:ext cx="4846320" cy="36576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2563EB"/>
                </a:solidFill>
              </a:defRPr>
            </a:pPr>
            <a:r>
              <a:t>CREATOR A: RAHUL SHARMA (@rahulfit.india) • FITNESS</a:t>
            </a:r>
          </a:p>
        </p:txBody>
      </p:sp>
      <p:sp>
        <p:nvSpPr>
          <p:cNvPr id="8" name="TextBox 7"/>
          <p:cNvSpPr txBox="1"/>
          <p:nvPr/>
        </p:nvSpPr>
        <p:spPr>
          <a:xfrm>
            <a:off x="914400" y="2331720"/>
            <a:ext cx="4846320" cy="2194560"/>
          </a:xfrm>
          <a:prstGeom prst="rect">
            <a:avLst/>
          </a:prstGeom>
          <a:noFill/>
        </p:spPr>
        <p:txBody>
          <a:bodyPr wrap="square">
            <a:spAutoFit/>
          </a:bodyPr>
          <a:lstStyle/>
          <a:p/>
          <a:p>
            <a:pPr>
              <a:spcAft>
                <a:spcPts val="200"/>
              </a:spcAft>
              <a:defRPr sz="880">
                <a:solidFill>
                  <a:srgbClr val="0F172A"/>
                </a:solidFill>
              </a:defRPr>
            </a:pPr>
            <a:r>
              <a:t>Audience &amp; Scale: 15,000 Instagram Followers • 4.8% Engagement • 18-24 Students</a:t>
            </a:r>
          </a:p>
          <a:p>
            <a:pPr>
              <a:spcAft>
                <a:spcPts val="200"/>
              </a:spcAft>
              <a:defRPr sz="880">
                <a:solidFill>
                  <a:srgbClr val="0F172A"/>
                </a:solidFill>
              </a:defRPr>
            </a:pPr>
            <a:r>
              <a:t>Income Goal: ₹75,000/month via commercial fitness sponsorships</a:t>
            </a:r>
          </a:p>
          <a:p>
            <a:pPr>
              <a:spcAft>
                <a:spcPts val="200"/>
              </a:spcAft>
              <a:defRPr sz="880">
                <a:solidFill>
                  <a:srgbClr val="0F172A"/>
                </a:solidFill>
              </a:defRPr>
            </a:pPr>
            <a:r>
              <a:t>Strategic Positioning: Hostel nutrition hacks under ₹40 &amp; dorm-friendly calisthenics</a:t>
            </a:r>
          </a:p>
          <a:p>
            <a:pPr>
              <a:spcAft>
                <a:spcPts val="200"/>
              </a:spcAft>
              <a:defRPr sz="880">
                <a:solidFill>
                  <a:srgbClr val="0F172A"/>
                </a:solidFill>
              </a:defRPr>
            </a:pPr>
            <a:r>
              <a:t>Top Monetisation: 1. Brand Collaborations (94%)  |  2. Affiliate Codes (88%)</a:t>
            </a:r>
          </a:p>
          <a:p>
            <a:pPr>
              <a:spcAft>
                <a:spcPts val="200"/>
              </a:spcAft>
              <a:defRPr sz="880">
                <a:solidFill>
                  <a:srgbClr val="0F172A"/>
                </a:solidFill>
              </a:defRPr>
            </a:pPr>
            <a:r>
              <a:t>Top Brand Deal: MyProtein India Campus Fuel (96% Match — VERIFIED ELIGIBLE)</a:t>
            </a:r>
          </a:p>
          <a:p>
            <a:pPr>
              <a:spcAft>
                <a:spcPts val="200"/>
              </a:spcAft>
              <a:defRPr sz="880">
                <a:solidFill>
                  <a:srgbClr val="0F172A"/>
                </a:solidFill>
              </a:defRPr>
            </a:pPr>
            <a:r>
              <a:t>Disqualified Deal: Wint Wealth Bonds (INELIGIBLE — Requires LinkedIn &amp; Finance Niche)</a:t>
            </a:r>
          </a:p>
          <a:p>
            <a:pPr>
              <a:spcAft>
                <a:spcPts val="200"/>
              </a:spcAft>
              <a:defRPr sz="880">
                <a:solidFill>
                  <a:srgbClr val="0F172A"/>
                </a:solidFill>
              </a:defRPr>
            </a:pPr>
            <a:r>
              <a:t>Next Best Action: Submit customized pitch deck to MyProtein &amp; audit Reels 3-sec hook dropoff</a:t>
            </a:r>
          </a:p>
        </p:txBody>
      </p:sp>
      <p:pic>
        <p:nvPicPr>
          <p:cNvPr id="9" name="Picture 8" descr="screenshot_opportunities.png"/>
          <p:cNvPicPr>
            <a:picLocks noChangeAspect="1"/>
          </p:cNvPicPr>
          <p:nvPr/>
        </p:nvPicPr>
        <p:blipFill>
          <a:blip r:embed="rId2"/>
          <a:stretch>
            <a:fillRect/>
          </a:stretch>
        </p:blipFill>
        <p:spPr>
          <a:xfrm>
            <a:off x="914400" y="4526280"/>
            <a:ext cx="4846320" cy="1600200"/>
          </a:xfrm>
          <a:prstGeom prst="rect">
            <a:avLst/>
          </a:prstGeom>
        </p:spPr>
      </p:pic>
      <p:sp>
        <p:nvSpPr>
          <p:cNvPr id="10" name="Rounded Rectangle 9"/>
          <p:cNvSpPr/>
          <p:nvPr/>
        </p:nvSpPr>
        <p:spPr>
          <a:xfrm>
            <a:off x="6217920" y="1691640"/>
            <a:ext cx="5212080" cy="457200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874519"/>
            <a:ext cx="4846320" cy="36576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4F46E5"/>
                </a:solidFill>
              </a:defRPr>
            </a:pPr>
            <a:r>
              <a:t>CREATOR B: PRIYA NAIR (@priya.finance) • PERSONAL FINANCE</a:t>
            </a:r>
          </a:p>
        </p:txBody>
      </p:sp>
      <p:sp>
        <p:nvSpPr>
          <p:cNvPr id="12" name="TextBox 11"/>
          <p:cNvSpPr txBox="1"/>
          <p:nvPr/>
        </p:nvSpPr>
        <p:spPr>
          <a:xfrm>
            <a:off x="6400800" y="2331720"/>
            <a:ext cx="4846320" cy="2194560"/>
          </a:xfrm>
          <a:prstGeom prst="rect">
            <a:avLst/>
          </a:prstGeom>
          <a:noFill/>
        </p:spPr>
        <p:txBody>
          <a:bodyPr wrap="square">
            <a:spAutoFit/>
          </a:bodyPr>
          <a:lstStyle/>
          <a:p/>
          <a:p>
            <a:pPr>
              <a:spcAft>
                <a:spcPts val="200"/>
              </a:spcAft>
              <a:defRPr sz="880">
                <a:solidFill>
                  <a:srgbClr val="0F172A"/>
                </a:solidFill>
              </a:defRPr>
            </a:pPr>
            <a:r>
              <a:t>Audience &amp; Scale: 8,000 LinkedIn Followers • 3.8% Engagement • 24-35 Tech Pros</a:t>
            </a:r>
          </a:p>
          <a:p>
            <a:pPr>
              <a:spcAft>
                <a:spcPts val="200"/>
              </a:spcAft>
              <a:defRPr sz="880">
                <a:solidFill>
                  <a:srgbClr val="0F172A"/>
                </a:solidFill>
              </a:defRPr>
            </a:pPr>
            <a:r>
              <a:t>Income Goal: ₹1,20,000/month via corporate financial wellness &amp; advisory calls</a:t>
            </a:r>
          </a:p>
          <a:p>
            <a:pPr>
              <a:spcAft>
                <a:spcPts val="200"/>
              </a:spcAft>
              <a:defRPr sz="880">
                <a:solidFill>
                  <a:srgbClr val="0F172A"/>
                </a:solidFill>
              </a:defRPr>
            </a:pPr>
            <a:r>
              <a:t>Strategic Positioning: Zero-jargon visual frameworks for tax optimization &amp; RSUs</a:t>
            </a:r>
          </a:p>
          <a:p>
            <a:pPr>
              <a:spcAft>
                <a:spcPts val="200"/>
              </a:spcAft>
              <a:defRPr sz="880">
                <a:solidFill>
                  <a:srgbClr val="0F172A"/>
                </a:solidFill>
              </a:defRPr>
            </a:pPr>
            <a:r>
              <a:t>Top Monetisation: 1. 1:1 Advisory Calls (96%)  |  2. Corporate Wellness Webinars (91%)</a:t>
            </a:r>
          </a:p>
          <a:p>
            <a:pPr>
              <a:spcAft>
                <a:spcPts val="200"/>
              </a:spcAft>
              <a:defRPr sz="880">
                <a:solidFill>
                  <a:srgbClr val="0F172A"/>
                </a:solidFill>
              </a:defRPr>
            </a:pPr>
            <a:r>
              <a:t>Top Brand Deal: Wint Wealth Fixed Income Series (97% Match — VERIFIED ELIGIBLE)</a:t>
            </a:r>
          </a:p>
          <a:p>
            <a:pPr>
              <a:spcAft>
                <a:spcPts val="200"/>
              </a:spcAft>
              <a:defRPr sz="880">
                <a:solidFill>
                  <a:srgbClr val="0F172A"/>
                </a:solidFill>
              </a:defRPr>
            </a:pPr>
            <a:r>
              <a:t>Disqualified Deal: Cult.fit Home Challenge (INELIGIBLE — Requires Instagram Fitness Videos)</a:t>
            </a:r>
          </a:p>
          <a:p>
            <a:pPr>
              <a:spcAft>
                <a:spcPts val="200"/>
              </a:spcAft>
              <a:defRPr sz="880">
                <a:solidFill>
                  <a:srgbClr val="0F172A"/>
                </a:solidFill>
              </a:defRPr>
            </a:pPr>
            <a:r>
              <a:t>Next Best Action: Standardize SEBI-compliant disclaimer footer &amp; launch Topmate booking link</a:t>
            </a:r>
          </a:p>
        </p:txBody>
      </p:sp>
      <p:pic>
        <p:nvPicPr>
          <p:cNvPr id="13" name="Picture 12" descr="screenshot_priya_opps.png"/>
          <p:cNvPicPr>
            <a:picLocks noChangeAspect="1"/>
          </p:cNvPicPr>
          <p:nvPr/>
        </p:nvPicPr>
        <p:blipFill>
          <a:blip r:embed="rId3"/>
          <a:stretch>
            <a:fillRect/>
          </a:stretch>
        </p:blipFill>
        <p:spPr>
          <a:xfrm>
            <a:off x="6400800" y="4526280"/>
            <a:ext cx="4846320" cy="1600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TECHNICAL ARCHITECTURE</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Technology Stack &amp; AI Integration Architecture</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Engineered for reliability: Server-side API security, deterministic logic, and Row-Level Security.</a:t>
            </a:r>
          </a:p>
        </p:txBody>
      </p:sp>
      <p:sp>
        <p:nvSpPr>
          <p:cNvPr id="6" name="Rounded Rectangle 5"/>
          <p:cNvSpPr/>
          <p:nvPr/>
        </p:nvSpPr>
        <p:spPr>
          <a:xfrm>
            <a:off x="731520" y="169164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37160" cy="1005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01368"/>
            <a:ext cx="10271455" cy="786384"/>
          </a:xfrm>
          <a:prstGeom prst="rect">
            <a:avLst/>
          </a:prstGeom>
          <a:noFill/>
        </p:spPr>
        <p:txBody>
          <a:bodyPr wrap="square">
            <a:spAutoFit/>
          </a:bodyPr>
          <a:lstStyle/>
          <a:p>
            <a:pPr>
              <a:defRPr sz="1200" b="1">
                <a:solidFill>
                  <a:srgbClr val="2563EB"/>
                </a:solidFill>
              </a:defRPr>
            </a:pPr>
            <a:r>
              <a:t>PRESENTATION TIER:  Next.js 16.4 (Turbopack) • React 19 • Tailwind CSS v4 • Lucide Icons</a:t>
            </a:r>
          </a:p>
          <a:p>
            <a:pPr>
              <a:spcBef>
                <a:spcPts val="300"/>
              </a:spcBef>
              <a:defRPr sz="1000">
                <a:solidFill>
                  <a:srgbClr val="475569"/>
                </a:solidFill>
              </a:defRPr>
            </a:pPr>
            <a:r>
              <a:t>Client-side App Router with responsive dashboard layouts, Hackathon Demo Bar, Persona Switcher, and stateful Action Centre tracking.</a:t>
            </a:r>
          </a:p>
        </p:txBody>
      </p:sp>
      <p:sp>
        <p:nvSpPr>
          <p:cNvPr id="9" name="Rounded Rectangle 8"/>
          <p:cNvSpPr/>
          <p:nvPr/>
        </p:nvSpPr>
        <p:spPr>
          <a:xfrm>
            <a:off x="731520" y="2862072"/>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62072"/>
            <a:ext cx="137160" cy="10058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971800"/>
            <a:ext cx="10271455" cy="786384"/>
          </a:xfrm>
          <a:prstGeom prst="rect">
            <a:avLst/>
          </a:prstGeom>
          <a:noFill/>
        </p:spPr>
        <p:txBody>
          <a:bodyPr wrap="square">
            <a:spAutoFit/>
          </a:bodyPr>
          <a:lstStyle/>
          <a:p>
            <a:pPr>
              <a:defRPr sz="1200" b="1">
                <a:solidFill>
                  <a:srgbClr val="4F46E5"/>
                </a:solidFill>
              </a:defRPr>
            </a:pPr>
            <a:r>
              <a:t>STATE &amp; CLIENT SERVICES:  CreatorContext.tsx • compatibility.ts • supabaseService.ts</a:t>
            </a:r>
          </a:p>
          <a:p>
            <a:pPr>
              <a:spcBef>
                <a:spcPts val="300"/>
              </a:spcBef>
              <a:defRPr sz="1000">
                <a:solidFill>
                  <a:srgbClr val="475569"/>
                </a:solidFill>
              </a:defRPr>
            </a:pPr>
            <a:r>
              <a:t>Global React Context managing active persona state, optimistic UI updates, and deterministic matchmaking algorithm preventing AI hallucination.</a:t>
            </a:r>
          </a:p>
        </p:txBody>
      </p:sp>
      <p:sp>
        <p:nvSpPr>
          <p:cNvPr id="12" name="Rounded Rectangle 11"/>
          <p:cNvSpPr/>
          <p:nvPr/>
        </p:nvSpPr>
        <p:spPr>
          <a:xfrm>
            <a:off x="731520" y="4032504"/>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32504"/>
            <a:ext cx="137160" cy="1005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142232"/>
            <a:ext cx="10271455" cy="786384"/>
          </a:xfrm>
          <a:prstGeom prst="rect">
            <a:avLst/>
          </a:prstGeom>
          <a:noFill/>
        </p:spPr>
        <p:txBody>
          <a:bodyPr wrap="square">
            <a:spAutoFit/>
          </a:bodyPr>
          <a:lstStyle/>
          <a:p>
            <a:pPr>
              <a:defRPr sz="1200" b="1">
                <a:solidFill>
                  <a:srgbClr val="059669"/>
                </a:solidFill>
              </a:defRPr>
            </a:pPr>
            <a:r>
              <a:t>AI RECOMMENDATIONS ROUTE:  Next.js Server API (/api/recommendations) • @google/genai SDK</a:t>
            </a:r>
          </a:p>
          <a:p>
            <a:pPr>
              <a:spcBef>
                <a:spcPts val="300"/>
              </a:spcBef>
              <a:defRPr sz="1000">
                <a:solidFill>
                  <a:srgbClr val="475569"/>
                </a:solidFill>
              </a:defRPr>
            </a:pPr>
            <a:r>
              <a:t>Secure server-side route executing Gemini API (gemini-3.5-flash-lite / gemini-3.8-flash) with 20s timeout, schema sanitization, and fallback engine.</a:t>
            </a:r>
          </a:p>
        </p:txBody>
      </p:sp>
      <p:sp>
        <p:nvSpPr>
          <p:cNvPr id="15" name="Rounded Rectangle 14"/>
          <p:cNvSpPr/>
          <p:nvPr/>
        </p:nvSpPr>
        <p:spPr>
          <a:xfrm>
            <a:off x="731520" y="5202936"/>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02936"/>
            <a:ext cx="137160"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312664"/>
            <a:ext cx="10271455" cy="786384"/>
          </a:xfrm>
          <a:prstGeom prst="rect">
            <a:avLst/>
          </a:prstGeom>
          <a:noFill/>
        </p:spPr>
        <p:txBody>
          <a:bodyPr wrap="square">
            <a:spAutoFit/>
          </a:bodyPr>
          <a:lstStyle/>
          <a:p>
            <a:pPr>
              <a:defRPr sz="1200" b="1">
                <a:solidFill>
                  <a:srgbClr val="0F172A"/>
                </a:solidFill>
              </a:defRPr>
            </a:pPr>
            <a:r>
              <a:t>PERSISTENCE &amp; SECURITY:  Supabase PostgreSQL • Row Level Security (RLS) • UUIDs</a:t>
            </a:r>
          </a:p>
          <a:p>
            <a:pPr>
              <a:spcBef>
                <a:spcPts val="300"/>
              </a:spcBef>
              <a:defRPr sz="1000">
                <a:solidFill>
                  <a:srgbClr val="475569"/>
                </a:solidFill>
              </a:defRPr>
            </a:pPr>
            <a:r>
              <a:t>Relational schema covering creator_profiles, creator_preferences, opportunities, opportunity_applications, and action_items with public demo access policies.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2563EB"/>
                </a:solidFill>
                <a:latin typeface="Arial"/>
              </a:defRPr>
            </a:pPr>
            <a:r>
              <a:t>MARKET POSITIONING &amp; GUARDRAILS</a:t>
            </a:r>
          </a:p>
        </p:txBody>
      </p:sp>
      <p:sp>
        <p:nvSpPr>
          <p:cNvPr id="4" name="TextBox 3"/>
          <p:cNvSpPr txBox="1"/>
          <p:nvPr/>
        </p:nvSpPr>
        <p:spPr>
          <a:xfrm>
            <a:off x="731520" y="685800"/>
            <a:ext cx="10698480" cy="502920"/>
          </a:xfrm>
          <a:prstGeom prst="rect">
            <a:avLst/>
          </a:prstGeom>
          <a:noFill/>
        </p:spPr>
        <p:txBody>
          <a:bodyPr wrap="square" tIns="0" bIns="0" lIns="0" rIns="0">
            <a:spAutoFit/>
          </a:bodyPr>
          <a:lstStyle/>
          <a:p>
            <a:pPr>
              <a:defRPr sz="2200" b="1">
                <a:solidFill>
                  <a:srgbClr val="0F172A"/>
                </a:solidFill>
                <a:latin typeface="Arial"/>
              </a:defRPr>
            </a:pPr>
            <a:r>
              <a:t>Differentiation Matrix &amp; Responsible Design Principles</a:t>
            </a:r>
          </a:p>
        </p:txBody>
      </p:sp>
      <p:sp>
        <p:nvSpPr>
          <p:cNvPr id="5" name="TextBox 4"/>
          <p:cNvSpPr txBox="1"/>
          <p:nvPr/>
        </p:nvSpPr>
        <p:spPr>
          <a:xfrm>
            <a:off x="731520" y="1188720"/>
            <a:ext cx="10698480" cy="320040"/>
          </a:xfrm>
          <a:prstGeom prst="rect">
            <a:avLst/>
          </a:prstGeom>
          <a:noFill/>
        </p:spPr>
        <p:txBody>
          <a:bodyPr wrap="square" tIns="0" bIns="0" lIns="0" rIns="0">
            <a:spAutoFit/>
          </a:bodyPr>
          <a:lstStyle/>
          <a:p>
            <a:pPr>
              <a:defRPr sz="1200">
                <a:solidFill>
                  <a:srgbClr val="475569"/>
                </a:solidFill>
                <a:latin typeface="Arial"/>
              </a:defRPr>
            </a:pPr>
            <a:r>
              <a:t>Why Creator Engine is uniquely actionable, and how we protect creators and brands.</a:t>
            </a:r>
          </a:p>
        </p:txBody>
      </p:sp>
      <p:sp>
        <p:nvSpPr>
          <p:cNvPr id="6" name="Rounded Rectangle 5"/>
          <p:cNvSpPr/>
          <p:nvPr/>
        </p:nvSpPr>
        <p:spPr>
          <a:xfrm>
            <a:off x="731520" y="1691640"/>
            <a:ext cx="67665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6400800" cy="320040"/>
          </a:xfrm>
          <a:prstGeom prst="rect">
            <a:avLst/>
          </a:prstGeom>
          <a:noFill/>
        </p:spPr>
        <p:txBody>
          <a:bodyPr wrap="none">
            <a:spAutoFit/>
          </a:bodyPr>
          <a:lstStyle/>
          <a:p>
            <a:pPr>
              <a:defRPr sz="1100" b="1">
                <a:solidFill>
                  <a:srgbClr val="2563EB"/>
                </a:solidFill>
              </a:defRPr>
            </a:pPr>
            <a:r>
              <a:t>PRODUCT COMPARISON MATRIX</a:t>
            </a:r>
          </a:p>
        </p:txBody>
      </p:sp>
      <p:sp>
        <p:nvSpPr>
          <p:cNvPr id="8" name="Rounded Rectangle 7"/>
          <p:cNvSpPr/>
          <p:nvPr/>
        </p:nvSpPr>
        <p:spPr>
          <a:xfrm>
            <a:off x="914400" y="2240280"/>
            <a:ext cx="6400800" cy="566928"/>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13432"/>
            <a:ext cx="6217920" cy="457200"/>
          </a:xfrm>
          <a:prstGeom prst="rect">
            <a:avLst/>
          </a:prstGeom>
          <a:noFill/>
        </p:spPr>
        <p:txBody>
          <a:bodyPr wrap="square">
            <a:spAutoFit/>
          </a:bodyPr>
          <a:lstStyle/>
          <a:p>
            <a:pPr>
              <a:defRPr sz="1000" b="1">
                <a:solidFill>
                  <a:srgbClr val="2563EB"/>
                </a:solidFill>
              </a:defRPr>
            </a:pPr>
            <a:r>
              <a:t>Capability  ➔  Creator Engine</a:t>
            </a:r>
          </a:p>
          <a:p>
            <a:pPr>
              <a:defRPr sz="850">
                <a:solidFill>
                  <a:srgbClr val="475569"/>
                </a:solidFill>
              </a:defRPr>
            </a:pPr>
            <a:r>
              <a:t>Alternative Tools: Analytics Dashboards vs Caption AI Tools vs Blind Marketplaces</a:t>
            </a:r>
          </a:p>
        </p:txBody>
      </p:sp>
      <p:sp>
        <p:nvSpPr>
          <p:cNvPr id="10" name="Rounded Rectangle 9"/>
          <p:cNvSpPr/>
          <p:nvPr/>
        </p:nvSpPr>
        <p:spPr>
          <a:xfrm>
            <a:off x="914400" y="2880360"/>
            <a:ext cx="6400800" cy="5669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953512"/>
            <a:ext cx="6217920" cy="457200"/>
          </a:xfrm>
          <a:prstGeom prst="rect">
            <a:avLst/>
          </a:prstGeom>
          <a:noFill/>
        </p:spPr>
        <p:txBody>
          <a:bodyPr wrap="square">
            <a:spAutoFit/>
          </a:bodyPr>
          <a:lstStyle/>
          <a:p>
            <a:pPr>
              <a:defRPr sz="1000" b="1">
                <a:solidFill>
                  <a:srgbClr val="0F172A"/>
                </a:solidFill>
              </a:defRPr>
            </a:pPr>
            <a:r>
              <a:t>Target Output  ➔  Next Best Action</a:t>
            </a:r>
          </a:p>
          <a:p>
            <a:pPr>
              <a:defRPr sz="850">
                <a:solidFill>
                  <a:srgbClr val="475569"/>
                </a:solidFill>
              </a:defRPr>
            </a:pPr>
            <a:r>
              <a:t>Alternative Tools: Historical Graphs vs Isolated Captions vs Spam Listing Boards</a:t>
            </a:r>
          </a:p>
        </p:txBody>
      </p:sp>
      <p:sp>
        <p:nvSpPr>
          <p:cNvPr id="12" name="Rounded Rectangle 11"/>
          <p:cNvSpPr/>
          <p:nvPr/>
        </p:nvSpPr>
        <p:spPr>
          <a:xfrm>
            <a:off x="914400" y="3520440"/>
            <a:ext cx="640080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93592"/>
            <a:ext cx="6217920" cy="457200"/>
          </a:xfrm>
          <a:prstGeom prst="rect">
            <a:avLst/>
          </a:prstGeom>
          <a:noFill/>
        </p:spPr>
        <p:txBody>
          <a:bodyPr wrap="square">
            <a:spAutoFit/>
          </a:bodyPr>
          <a:lstStyle/>
          <a:p>
            <a:pPr>
              <a:defRPr sz="1000" b="1">
                <a:solidFill>
                  <a:srgbClr val="0F172A"/>
                </a:solidFill>
              </a:defRPr>
            </a:pPr>
            <a:r>
              <a:t>Growth Roadmap  ➔  30/60/90 Days Phased</a:t>
            </a:r>
          </a:p>
          <a:p>
            <a:pPr>
              <a:defRPr sz="850">
                <a:solidFill>
                  <a:srgbClr val="475569"/>
                </a:solidFill>
              </a:defRPr>
            </a:pPr>
            <a:r>
              <a:t>Alternative Tools: None (Static) vs None vs None</a:t>
            </a:r>
          </a:p>
        </p:txBody>
      </p:sp>
      <p:sp>
        <p:nvSpPr>
          <p:cNvPr id="14" name="Rounded Rectangle 13"/>
          <p:cNvSpPr/>
          <p:nvPr/>
        </p:nvSpPr>
        <p:spPr>
          <a:xfrm>
            <a:off x="914400" y="4160520"/>
            <a:ext cx="6400800" cy="5669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33672"/>
            <a:ext cx="6217920" cy="457200"/>
          </a:xfrm>
          <a:prstGeom prst="rect">
            <a:avLst/>
          </a:prstGeom>
          <a:noFill/>
        </p:spPr>
        <p:txBody>
          <a:bodyPr wrap="square">
            <a:spAutoFit/>
          </a:bodyPr>
          <a:lstStyle/>
          <a:p>
            <a:pPr>
              <a:defRPr sz="1000" b="1">
                <a:solidFill>
                  <a:srgbClr val="0F172A"/>
                </a:solidFill>
              </a:defRPr>
            </a:pPr>
            <a:r>
              <a:t>Monetisation Model  ➔  5 Viable Pathways</a:t>
            </a:r>
          </a:p>
          <a:p>
            <a:pPr>
              <a:defRPr sz="850">
                <a:solidFill>
                  <a:srgbClr val="475569"/>
                </a:solidFill>
              </a:defRPr>
            </a:pPr>
            <a:r>
              <a:t>Alternative Tools: None vs None vs Bidding Only</a:t>
            </a:r>
          </a:p>
        </p:txBody>
      </p:sp>
      <p:sp>
        <p:nvSpPr>
          <p:cNvPr id="16" name="Rounded Rectangle 15"/>
          <p:cNvSpPr/>
          <p:nvPr/>
        </p:nvSpPr>
        <p:spPr>
          <a:xfrm>
            <a:off x="914400" y="4800600"/>
            <a:ext cx="640080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73752"/>
            <a:ext cx="6217920" cy="457200"/>
          </a:xfrm>
          <a:prstGeom prst="rect">
            <a:avLst/>
          </a:prstGeom>
          <a:noFill/>
        </p:spPr>
        <p:txBody>
          <a:bodyPr wrap="square">
            <a:spAutoFit/>
          </a:bodyPr>
          <a:lstStyle/>
          <a:p>
            <a:pPr>
              <a:defRPr sz="1000" b="1">
                <a:solidFill>
                  <a:srgbClr val="0F172A"/>
                </a:solidFill>
              </a:defRPr>
            </a:pPr>
            <a:r>
              <a:t>Matchmaking Logic  ➔  Deterministic &amp; Explainable</a:t>
            </a:r>
          </a:p>
          <a:p>
            <a:pPr>
              <a:defRPr sz="850">
                <a:solidFill>
                  <a:srgbClr val="475569"/>
                </a:solidFill>
              </a:defRPr>
            </a:pPr>
            <a:r>
              <a:t>Alternative Tools: None vs None vs Black-box Bidding</a:t>
            </a:r>
          </a:p>
        </p:txBody>
      </p:sp>
      <p:sp>
        <p:nvSpPr>
          <p:cNvPr id="18" name="Rounded Rectangle 17"/>
          <p:cNvSpPr/>
          <p:nvPr/>
        </p:nvSpPr>
        <p:spPr>
          <a:xfrm>
            <a:off x="914400" y="5440680"/>
            <a:ext cx="6400800" cy="56692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513832"/>
            <a:ext cx="6217920" cy="457200"/>
          </a:xfrm>
          <a:prstGeom prst="rect">
            <a:avLst/>
          </a:prstGeom>
          <a:noFill/>
        </p:spPr>
        <p:txBody>
          <a:bodyPr wrap="square">
            <a:spAutoFit/>
          </a:bodyPr>
          <a:lstStyle/>
          <a:p>
            <a:pPr>
              <a:defRPr sz="1000" b="1">
                <a:solidFill>
                  <a:srgbClr val="0F172A"/>
                </a:solidFill>
              </a:defRPr>
            </a:pPr>
            <a:r>
              <a:t>Compliance Guidance  ➔  ASCI &amp; SEBI Norms</a:t>
            </a:r>
          </a:p>
          <a:p>
            <a:pPr>
              <a:defRPr sz="850">
                <a:solidFill>
                  <a:srgbClr val="475569"/>
                </a:solidFill>
              </a:defRPr>
            </a:pPr>
            <a:r>
              <a:t>Alternative Tools: None vs None vs Terms-of-Service Only</a:t>
            </a:r>
          </a:p>
        </p:txBody>
      </p:sp>
      <p:sp>
        <p:nvSpPr>
          <p:cNvPr id="20" name="Rounded Rectangle 19"/>
          <p:cNvSpPr/>
          <p:nvPr/>
        </p:nvSpPr>
        <p:spPr>
          <a:xfrm>
            <a:off x="7680960" y="1691640"/>
            <a:ext cx="377921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1828800"/>
            <a:ext cx="3383280" cy="320040"/>
          </a:xfrm>
          <a:prstGeom prst="rect">
            <a:avLst/>
          </a:prstGeom>
          <a:noFill/>
        </p:spPr>
        <p:txBody>
          <a:bodyPr wrap="none">
            <a:spAutoFit/>
          </a:bodyPr>
          <a:lstStyle/>
          <a:p>
            <a:pPr>
              <a:defRPr sz="1100" b="1">
                <a:solidFill>
                  <a:srgbClr val="059669"/>
                </a:solidFill>
              </a:defRPr>
            </a:pPr>
            <a:r>
              <a:t>RESPONSIBLE DESIGN GUARDRAILS</a:t>
            </a:r>
          </a:p>
        </p:txBody>
      </p:sp>
      <p:sp>
        <p:nvSpPr>
          <p:cNvPr id="22" name="Rounded Rectangle 21"/>
          <p:cNvSpPr/>
          <p:nvPr/>
        </p:nvSpPr>
        <p:spPr>
          <a:xfrm>
            <a:off x="7863840" y="2240280"/>
            <a:ext cx="3413455"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73152" bIns="73152" lIns="73152" rIns="73152"/>
          <a:lstStyle/>
          <a:p>
            <a:pPr algn="ctr">
              <a:defRPr sz="1000" b="1">
                <a:solidFill>
                  <a:srgbClr val="059669"/>
                </a:solidFill>
              </a:defRPr>
            </a:pPr>
            <a:r>
              <a:t>[GUARDRAIL] No Guaranteed Virality Claims</a:t>
            </a:r>
          </a:p>
          <a:p>
            <a:pPr>
              <a:defRPr sz="850">
                <a:solidFill>
                  <a:srgbClr val="475569"/>
                </a:solidFill>
              </a:defRPr>
            </a:pPr>
            <a:r>
              <a:t>Creator Engine explicitly avoids fraudulent promises of follower growth or guaranteed earnings; all price ranges are labeled as illustrative benchmarks.</a:t>
            </a:r>
          </a:p>
        </p:txBody>
      </p:sp>
      <p:sp>
        <p:nvSpPr>
          <p:cNvPr id="23" name="Rounded Rectangle 22"/>
          <p:cNvSpPr/>
          <p:nvPr/>
        </p:nvSpPr>
        <p:spPr>
          <a:xfrm>
            <a:off x="7863840" y="3200400"/>
            <a:ext cx="3413455"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73152" bIns="73152" lIns="73152" rIns="73152"/>
          <a:lstStyle/>
          <a:p>
            <a:pPr algn="ctr">
              <a:defRPr sz="1000" b="1">
                <a:solidFill>
                  <a:srgbClr val="059669"/>
                </a:solidFill>
              </a:defRPr>
            </a:pPr>
            <a:r>
              <a:t>[GUARDRAIL] No Unauthorized Scraping</a:t>
            </a:r>
          </a:p>
          <a:p>
            <a:pPr>
              <a:defRPr sz="850">
                <a:solidFill>
                  <a:srgbClr val="475569"/>
                </a:solidFill>
              </a:defRPr>
            </a:pPr>
            <a:r>
              <a:t>We do not scrape private data or bypass platform anti-bot controls; data is self-reported and consent-driven.</a:t>
            </a:r>
          </a:p>
        </p:txBody>
      </p:sp>
      <p:sp>
        <p:nvSpPr>
          <p:cNvPr id="24" name="Rounded Rectangle 23"/>
          <p:cNvSpPr/>
          <p:nvPr/>
        </p:nvSpPr>
        <p:spPr>
          <a:xfrm>
            <a:off x="7863840" y="4160520"/>
            <a:ext cx="3413455"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73152" bIns="73152" lIns="73152" rIns="73152"/>
          <a:lstStyle/>
          <a:p>
            <a:pPr algn="ctr">
              <a:defRPr sz="1000" b="1">
                <a:solidFill>
                  <a:srgbClr val="059669"/>
                </a:solidFill>
              </a:defRPr>
            </a:pPr>
            <a:r>
              <a:t>[GUARDRAIL] Zero AI Campaign Hallucination</a:t>
            </a:r>
          </a:p>
          <a:p>
            <a:pPr>
              <a:defRPr sz="850">
                <a:solidFill>
                  <a:srgbClr val="475569"/>
                </a:solidFill>
              </a:defRPr>
            </a:pPr>
            <a:r>
              <a:t>Gemini advises strictly on content and strategy; brand campaign criteria are governed deterministically in application code.</a:t>
            </a:r>
          </a:p>
        </p:txBody>
      </p:sp>
      <p:sp>
        <p:nvSpPr>
          <p:cNvPr id="25" name="Rounded Rectangle 24"/>
          <p:cNvSpPr/>
          <p:nvPr/>
        </p:nvSpPr>
        <p:spPr>
          <a:xfrm>
            <a:off x="7863840" y="5120640"/>
            <a:ext cx="3413455"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73152" bIns="73152" lIns="73152" rIns="73152"/>
          <a:lstStyle/>
          <a:p>
            <a:pPr algn="ctr">
              <a:defRPr sz="1000" b="1">
                <a:solidFill>
                  <a:srgbClr val="059669"/>
                </a:solidFill>
              </a:defRPr>
            </a:pPr>
            <a:r>
              <a:t>[GUARDRAIL] Regulatory Compliance Built-In</a:t>
            </a:r>
          </a:p>
          <a:p>
            <a:pPr>
              <a:defRPr sz="850">
                <a:solidFill>
                  <a:srgbClr val="475569"/>
                </a:solidFill>
              </a:defRPr>
            </a:pPr>
            <a:r>
              <a:t>Incorporates statutory disclosure guidelines (ASCI influencer norms, SEBI educational research disclaimers).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48640"/>
            <a:ext cx="10728655" cy="137160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685800"/>
            <a:ext cx="10149840" cy="1097280"/>
          </a:xfrm>
          <a:prstGeom prst="rect">
            <a:avLst/>
          </a:prstGeom>
          <a:noFill/>
        </p:spPr>
        <p:txBody>
          <a:bodyPr wrap="square">
            <a:spAutoFit/>
          </a:bodyPr>
          <a:lstStyle/>
          <a:p>
            <a:pPr algn="ctr">
              <a:defRPr sz="1700" b="1">
                <a:solidFill>
                  <a:srgbClr val="1D4ED8"/>
                </a:solidFill>
              </a:defRPr>
            </a:pPr>
            <a:r>
              <a:t>"Creators don't need another analytics dashboard. They need a system that helps them decide what to do next and discover relevant monetisation opportunities."</a:t>
            </a:r>
          </a:p>
          <a:p>
            <a:pPr algn="ctr">
              <a:spcBef>
                <a:spcPts val="600"/>
              </a:spcBef>
              <a:defRPr sz="1100">
                <a:solidFill>
                  <a:srgbClr val="475569"/>
                </a:solidFill>
              </a:defRPr>
            </a:pPr>
            <a:r>
              <a:t>— Core Product Thesis, Creator Engine (CodeX 3.0 PS3)</a:t>
            </a:r>
          </a:p>
        </p:txBody>
      </p:sp>
      <p:sp>
        <p:nvSpPr>
          <p:cNvPr id="6" name="Rounded Rectangle 5"/>
          <p:cNvSpPr/>
          <p:nvPr/>
        </p:nvSpPr>
        <p:spPr>
          <a:xfrm>
            <a:off x="731520" y="2148840"/>
            <a:ext cx="5212080"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86000"/>
            <a:ext cx="4754880" cy="3017520"/>
          </a:xfrm>
          <a:prstGeom prst="rect">
            <a:avLst/>
          </a:prstGeom>
          <a:noFill/>
        </p:spPr>
        <p:txBody>
          <a:bodyPr wrap="square">
            <a:spAutoFit/>
          </a:bodyPr>
          <a:lstStyle/>
          <a:p>
            <a:pPr>
              <a:defRPr sz="1200" b="1">
                <a:solidFill>
                  <a:srgbClr val="0F172A"/>
                </a:solidFill>
              </a:defRPr>
            </a:pPr>
            <a:r>
              <a:t>EXPECTED CREATOR &amp; BRAND VALUE</a:t>
            </a:r>
          </a:p>
          <a:p>
            <a:pPr>
              <a:defRPr b="1" sz="1000">
                <a:solidFill>
                  <a:srgbClr val="2563EB"/>
                </a:solidFill>
              </a:defRPr>
            </a:pPr>
            <a:r>
              <a:t>• Faster Time-to-Monetisation: </a:t>
            </a:r>
          </a:p>
          <a:p>
            <a:pPr>
              <a:spcAft>
                <a:spcPts val="400"/>
              </a:spcAft>
              <a:defRPr sz="950">
                <a:solidFill>
                  <a:srgbClr val="475569"/>
                </a:solidFill>
              </a:defRPr>
            </a:pPr>
            <a:r>
              <a:t>Reduces creator ramp-up time by providing immediate rate card benchmarks and pitch templates.</a:t>
            </a:r>
          </a:p>
          <a:p>
            <a:pPr>
              <a:defRPr b="1" sz="1000">
                <a:solidFill>
                  <a:srgbClr val="2563EB"/>
                </a:solidFill>
              </a:defRPr>
            </a:pPr>
            <a:r>
              <a:t>• Higher Sponsorship Conversion: </a:t>
            </a:r>
          </a:p>
          <a:p>
            <a:pPr>
              <a:spcAft>
                <a:spcPts val="400"/>
              </a:spcAft>
              <a:defRPr sz="950">
                <a:solidFill>
                  <a:srgbClr val="475569"/>
                </a:solidFill>
              </a:defRPr>
            </a:pPr>
            <a:r>
              <a:t>Deterministic qualification prevents rejected pitches and protects brand campaign quality.</a:t>
            </a:r>
          </a:p>
          <a:p>
            <a:pPr>
              <a:defRPr b="1" sz="1000">
                <a:solidFill>
                  <a:srgbClr val="2563EB"/>
                </a:solidFill>
              </a:defRPr>
            </a:pPr>
            <a:r>
              <a:t>• Execution Accountability: </a:t>
            </a:r>
          </a:p>
          <a:p>
            <a:pPr>
              <a:spcAft>
                <a:spcPts val="400"/>
              </a:spcAft>
              <a:defRPr sz="950">
                <a:solidFill>
                  <a:srgbClr val="475569"/>
                </a:solidFill>
              </a:defRPr>
            </a:pPr>
            <a:r>
              <a:t>Real-time Action Centre velocity converts strategic intentions into completed operational milestones.</a:t>
            </a:r>
          </a:p>
          <a:p>
            <a:pPr>
              <a:defRPr b="1" sz="1000">
                <a:solidFill>
                  <a:srgbClr val="2563EB"/>
                </a:solidFill>
              </a:defRPr>
            </a:pPr>
            <a:r>
              <a:t>• Regulatory Compliance Protection: </a:t>
            </a:r>
          </a:p>
          <a:p>
            <a:pPr>
              <a:spcAft>
                <a:spcPts val="400"/>
              </a:spcAft>
              <a:defRPr sz="950">
                <a:solidFill>
                  <a:srgbClr val="475569"/>
                </a:solidFill>
              </a:defRPr>
            </a:pPr>
            <a:r>
              <a:t>Educates creators on mandatory ASCI influencer tags and SEBI financial disclosure norms.</a:t>
            </a:r>
          </a:p>
        </p:txBody>
      </p:sp>
      <p:sp>
        <p:nvSpPr>
          <p:cNvPr id="8" name="Rounded Rectangle 7"/>
          <p:cNvSpPr/>
          <p:nvPr/>
        </p:nvSpPr>
        <p:spPr>
          <a:xfrm>
            <a:off x="6217920" y="2148840"/>
            <a:ext cx="5242255"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286000"/>
            <a:ext cx="4754880" cy="3017520"/>
          </a:xfrm>
          <a:prstGeom prst="rect">
            <a:avLst/>
          </a:prstGeom>
          <a:noFill/>
        </p:spPr>
        <p:txBody>
          <a:bodyPr wrap="square">
            <a:spAutoFit/>
          </a:bodyPr>
          <a:lstStyle/>
          <a:p>
            <a:pPr>
              <a:defRPr sz="1200" b="1">
                <a:solidFill>
                  <a:srgbClr val="4F46E5"/>
                </a:solidFill>
              </a:defRPr>
            </a:pPr>
            <a:r>
              <a:t>FUTURE DEVELOPMENT ROADMAP</a:t>
            </a:r>
          </a:p>
          <a:p>
            <a:pPr>
              <a:spcAft>
                <a:spcPts val="600"/>
              </a:spcAft>
              <a:defRPr sz="1000">
                <a:solidFill>
                  <a:srgbClr val="0F172A"/>
                </a:solidFill>
              </a:defRPr>
            </a:pPr>
            <a:r>
              <a:t>• Phase 1 (Q2 2026): Official OAuth Social Verifications (Read-only Instagram Graph API &amp; LinkedIn API).</a:t>
            </a:r>
          </a:p>
          <a:p>
            <a:pPr>
              <a:spcAft>
                <a:spcPts val="600"/>
              </a:spcAft>
              <a:defRPr sz="1000">
                <a:solidFill>
                  <a:srgbClr val="0F172A"/>
                </a:solidFill>
              </a:defRPr>
            </a:pPr>
            <a:r>
              <a:t>• Phase 2 (Q3 2026): Smart Contract Escrow for automated campaign payouts upon approved reel delivery.</a:t>
            </a:r>
          </a:p>
          <a:p>
            <a:pPr>
              <a:spcAft>
                <a:spcPts val="600"/>
              </a:spcAft>
              <a:defRPr sz="1000">
                <a:solidFill>
                  <a:srgbClr val="0F172A"/>
                </a:solidFill>
              </a:defRPr>
            </a:pPr>
            <a:r>
              <a:t>• Phase 3 (Q4 2026): AI Outbound Co-Pilot for brand negotiation &amp; automated usage rights contracts.</a:t>
            </a:r>
          </a:p>
          <a:p>
            <a:pPr>
              <a:spcBef>
                <a:spcPts val="1200"/>
              </a:spcBef>
              <a:defRPr sz="1300" b="1">
                <a:solidFill>
                  <a:srgbClr val="2563EB"/>
                </a:solidFill>
              </a:defRPr>
            </a:pPr>
            <a:r>
              <a:t>Thank You! Ready for Questions &amp; Live Demonstration.</a:t>
            </a:r>
          </a:p>
          <a:p>
            <a:pPr>
              <a:defRPr sz="1000">
                <a:solidFill>
                  <a:srgbClr val="475569"/>
                </a:solidFill>
              </a:defRPr>
            </a:pPr>
            <a:r>
              <a:t>Creator Engine Team • CodeX 3.0 Hackathon</a:t>
            </a:r>
          </a:p>
        </p:txBody>
      </p:sp>
      <p:sp>
        <p:nvSpPr>
          <p:cNvPr id="10" name="TextBox 9"/>
          <p:cNvSpPr txBox="1"/>
          <p:nvPr/>
        </p:nvSpPr>
        <p:spPr>
          <a:xfrm>
            <a:off x="731520" y="5715000"/>
            <a:ext cx="10728655" cy="548640"/>
          </a:xfrm>
          <a:prstGeom prst="rect">
            <a:avLst/>
          </a:prstGeom>
          <a:noFill/>
        </p:spPr>
        <p:txBody>
          <a:bodyPr wrap="none">
            <a:spAutoFit/>
          </a:bodyPr>
          <a:lstStyle/>
          <a:p>
            <a:pPr algn="ctr">
              <a:defRPr sz="950">
                <a:solidFill>
                  <a:srgbClr val="94A3B8"/>
                </a:solidFill>
              </a:defRPr>
            </a:pPr>
            <a:r>
              <a:t>Creator Engine — Built for CodeX 3.0 (PS3) • Live Prototype at http://localhost:3000 • Fully Editable PowerPoint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